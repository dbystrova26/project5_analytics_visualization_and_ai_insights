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71" r:id="rId3"/>
    <p:sldId id="274" r:id="rId4"/>
    <p:sldId id="272" r:id="rId5"/>
    <p:sldId id="273" r:id="rId6"/>
    <p:sldId id="275" r:id="rId7"/>
    <p:sldId id="262" r:id="rId8"/>
    <p:sldId id="276" r:id="rId9"/>
    <p:sldId id="277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52" autoAdjust="0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42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US"/>
              <a:t>1. Hospitality professionals using AI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Adoption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774-45D0-9250-E9E5627AE5F1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774-45D0-9250-E9E5627AE5F1}"/>
              </c:ext>
            </c:extLst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774-45D0-9250-E9E5627AE5F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Already using
AI significantly</c:v>
                </c:pt>
                <c:pt idx="1">
                  <c:v>Planned
by 2024</c:v>
                </c:pt>
                <c:pt idx="2">
                  <c:v>Not yet
/ unsure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</c:v>
                </c:pt>
                <c:pt idx="1">
                  <c:v>50</c:v>
                </c:pt>
                <c:pt idx="2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774-45D0-9250-E9E5627AE5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C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txPr>
    <a:bodyPr/>
    <a:lstStyle/>
    <a:p>
      <a:pPr>
        <a:defRPr sz="600"/>
      </a:pPr>
      <a:endParaRPr lang="de-DE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2B4B"/>
                </a:solidFill>
                <a:latin typeface="Arial"/>
              </a:defRPr>
            </a:pPr>
            <a:r>
              <a:rPr lang="en-US" sz="900" b="0" i="0" u="none" strike="noStrike">
                <a:solidFill>
                  <a:srgbClr val="1B2B4B"/>
                </a:solidFill>
                <a:latin typeface="Arial"/>
              </a:rPr>
              <a:t>2. AI hospitality market forecast ($B)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$B</c:v>
                </c:pt>
              </c:strCache>
            </c:strRef>
          </c:tx>
          <c:spPr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  <c:pt idx="6">
                  <c:v>2028</c:v>
                </c:pt>
                <c:pt idx="7">
                  <c:v>2029</c:v>
                </c:pt>
                <c:pt idx="8">
                  <c:v>2030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0.08</c:v>
                </c:pt>
                <c:pt idx="1">
                  <c:v>0.13</c:v>
                </c:pt>
                <c:pt idx="2">
                  <c:v>0.21</c:v>
                </c:pt>
                <c:pt idx="3">
                  <c:v>0.33</c:v>
                </c:pt>
                <c:pt idx="4">
                  <c:v>0.23</c:v>
                </c:pt>
                <c:pt idx="5">
                  <c:v>0.37</c:v>
                </c:pt>
                <c:pt idx="6">
                  <c:v>0.74</c:v>
                </c:pt>
                <c:pt idx="7">
                  <c:v>1.42</c:v>
                </c:pt>
                <c:pt idx="8">
                  <c:v>2.2799999999999998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B28-491C-AB67-64E63D251E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3D4D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C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6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2B4B"/>
                </a:solidFill>
                <a:latin typeface="Arial"/>
              </a:defRPr>
            </a:pPr>
            <a:r>
              <a:rPr lang="fr-FR" sz="900" b="0" i="0" u="none" strike="noStrike">
                <a:solidFill>
                  <a:srgbClr val="1B2B4B"/>
                </a:solidFill>
                <a:latin typeface="Arial"/>
              </a:rPr>
              <a:t>3. Revenue uplift — AI vs non-adopters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uplift %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D4E-43B6-A98A-DA4AF42853DE}"/>
              </c:ext>
            </c:extLst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D4E-43B6-A98A-DA4AF42853D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1B2B4B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AI adopters</c:v>
                </c:pt>
                <c:pt idx="1">
                  <c:v>Non-adopters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D4E-43B6-A98A-DA4AF42853D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D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C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6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2B4B"/>
                </a:solidFill>
                <a:latin typeface="Arial"/>
              </a:defRPr>
            </a:pPr>
            <a:r>
              <a:rPr lang="de-DE" sz="900" b="0" i="0" u="none" strike="noStrike">
                <a:solidFill>
                  <a:srgbClr val="1B2B4B"/>
                </a:solidFill>
                <a:latin typeface="Arial"/>
              </a:rPr>
              <a:t>4. EU aparthotel AI maturity*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integration %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96E-493A-91DB-05475B9A2A7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96E-493A-91DB-05475B9A2A7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396E-493A-91DB-05475B9A2A77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96E-493A-91DB-05475B9A2A77}"/>
              </c:ext>
            </c:extLst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96E-493A-91DB-05475B9A2A77}"/>
              </c:ext>
            </c:extLst>
          </c:dPt>
          <c:dPt>
            <c:idx val="5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96E-493A-91DB-05475B9A2A7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1B2B4B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BobW</c:v>
                </c:pt>
                <c:pt idx="1">
                  <c:v>Limehome</c:v>
                </c:pt>
                <c:pt idx="2">
                  <c:v>Numa</c:v>
                </c:pt>
                <c:pt idx="3">
                  <c:v>Accor Adagio</c:v>
                </c:pt>
                <c:pt idx="4">
                  <c:v>Staycity</c:v>
                </c:pt>
                <c:pt idx="5">
                  <c:v>Cleo (current)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</c:v>
                </c:pt>
                <c:pt idx="1">
                  <c:v>90</c:v>
                </c:pt>
                <c:pt idx="2">
                  <c:v>90</c:v>
                </c:pt>
                <c:pt idx="3">
                  <c:v>70</c:v>
                </c:pt>
                <c:pt idx="4">
                  <c:v>55</c:v>
                </c:pt>
                <c:pt idx="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96E-493A-91DB-05475B9A2A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3D4D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C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6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2B4B"/>
                </a:solidFill>
                <a:latin typeface="Arial"/>
              </a:defRPr>
            </a:pPr>
            <a:r>
              <a:rPr lang="en-US" sz="900" b="0" i="0" u="none" strike="noStrike" dirty="0">
                <a:solidFill>
                  <a:srgbClr val="1B2B4B"/>
                </a:solidFill>
                <a:latin typeface="Arial"/>
              </a:rPr>
              <a:t>5. Investment payback period (months)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Months to payback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DA8-4845-A101-08C0C1D6FEEB}"/>
              </c:ext>
            </c:extLst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DA8-4845-A101-08C0C1D6FEEB}"/>
              </c:ext>
            </c:extLst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DA8-4845-A101-08C0C1D6FEEB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DA8-4845-A101-08C0C1D6FEE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1B2B4B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AI pricing &amp;
personalisation</c:v>
                </c:pt>
                <c:pt idx="1">
                  <c:v>Traditional
RMS upgrade</c:v>
                </c:pt>
                <c:pt idx="2">
                  <c:v>New PMS
impl.</c:v>
                </c:pt>
                <c:pt idx="3">
                  <c:v>Staff hiring
(guest rel.)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36</c:v>
                </c:pt>
                <c:pt idx="2">
                  <c:v>48</c:v>
                </c:pt>
                <c:pt idx="3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DA8-4845-A101-08C0C1D6FEE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3D4D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C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6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2B4B"/>
                </a:solidFill>
                <a:latin typeface="Arial"/>
              </a:defRPr>
            </a:pPr>
            <a:r>
              <a:rPr lang="en-US" sz="900" b="0" i="0" u="none" strike="noStrike">
                <a:solidFill>
                  <a:srgbClr val="1B2B4B"/>
                </a:solidFill>
                <a:latin typeface="Arial"/>
              </a:rPr>
              <a:t>6. Top AI use cases — RevPAR uplift*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RevPAR uplift %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662-4CE8-A350-35564C18B42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662-4CE8-A350-35564C18B421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662-4CE8-A350-35564C18B421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662-4CE8-A350-35564C18B421}"/>
              </c:ext>
            </c:extLst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662-4CE8-A350-35564C18B42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1B2B4B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Dynamic
pricing</c:v>
                </c:pt>
                <c:pt idx="1">
                  <c:v>Cancellation
pred.</c:v>
                </c:pt>
                <c:pt idx="2">
                  <c:v>Guest comms
auto.</c:v>
                </c:pt>
                <c:pt idx="3">
                  <c:v>Demand
forecast</c:v>
                </c:pt>
                <c:pt idx="4">
                  <c:v>AI chatbot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12</c:v>
                </c:pt>
                <c:pt idx="2">
                  <c:v>8</c:v>
                </c:pt>
                <c:pt idx="3">
                  <c:v>6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662-4CE8-A350-35564C18B4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3D4D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C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6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9609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D0119-62E9-5C94-C9F8-DBBC62405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08D17F-BA74-4529-90FD-09FEB53477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571BF1-8284-7245-4F57-AF2CFBF725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8BA90-EB2F-6F9F-7263-3C54FA10E0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5755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EBBD9-FF49-6FBB-F1FE-FBD57CA1F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D297DA-52B2-094C-93A5-0B63B3EDF1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D518A3-55F8-6B66-6B09-111F0B43BB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92B34-B700-9BDF-0C13-598C921C93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5844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15">
            <a:extLst>
              <a:ext uri="{FF2B5EF4-FFF2-40B4-BE49-F238E27FC236}">
                <a16:creationId xmlns:a16="http://schemas.microsoft.com/office/drawing/2014/main" id="{B516CFC5-C240-26A5-01E0-195025CA1EE3}"/>
              </a:ext>
            </a:extLst>
          </p:cNvPr>
          <p:cNvSpPr/>
          <p:nvPr/>
        </p:nvSpPr>
        <p:spPr>
          <a:xfrm>
            <a:off x="5989320" y="2697809"/>
            <a:ext cx="1417320" cy="1737360"/>
          </a:xfrm>
          <a:prstGeom prst="roundRect">
            <a:avLst>
              <a:gd name="adj" fmla="val 5161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FF8BBE31-5AE5-6913-63AA-8439416AE1B9}"/>
              </a:ext>
            </a:extLst>
          </p:cNvPr>
          <p:cNvSpPr/>
          <p:nvPr/>
        </p:nvSpPr>
        <p:spPr>
          <a:xfrm>
            <a:off x="7562088" y="797814"/>
            <a:ext cx="1417320" cy="1737360"/>
          </a:xfrm>
          <a:prstGeom prst="roundRect">
            <a:avLst>
              <a:gd name="adj" fmla="val 5161"/>
            </a:avLst>
          </a:prstGeom>
          <a:solidFill>
            <a:srgbClr val="E67E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1F0283C4-29E3-283D-B442-85983BB5904A}"/>
              </a:ext>
            </a:extLst>
          </p:cNvPr>
          <p:cNvSpPr/>
          <p:nvPr/>
        </p:nvSpPr>
        <p:spPr>
          <a:xfrm>
            <a:off x="5989320" y="797814"/>
            <a:ext cx="1417320" cy="1737360"/>
          </a:xfrm>
          <a:prstGeom prst="roundRect">
            <a:avLst>
              <a:gd name="adj" fmla="val 5161"/>
            </a:avLst>
          </a:prstGeom>
          <a:solidFill>
            <a:srgbClr val="006B6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>
              <a:solidFill>
                <a:schemeClr val="bg1"/>
              </a:solidFill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 r="17812"/>
          <a:stretch>
            <a:fillRect/>
          </a:stretch>
        </p:blipFill>
        <p:spPr>
          <a:xfrm>
            <a:off x="0" y="64008"/>
            <a:ext cx="5833872" cy="50794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02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  ·  AI STRATEGY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Pan-European Aparthotel AI Strategy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30175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 119,388 real hotel bookings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built &amp; tested end-to-end · UC1 &amp; UC3 scoped · One pilot recommendation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" y="4480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Daria Bystrova  ·  Ironhack Project 5  ·  June 2026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6035040" y="91440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119K+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6035040" y="155448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booking</a:t>
            </a:r>
            <a:endParaRPr lang="en-US" sz="85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analysed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7607808" y="91440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3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7607808" y="155448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built</a:t>
            </a:r>
            <a:endParaRPr lang="en-US" sz="85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tested (UC2)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6035040" y="29260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37.5%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6035040" y="356616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85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562088" y="2697480"/>
            <a:ext cx="1417320" cy="1737360"/>
          </a:xfrm>
          <a:prstGeom prst="roundRect">
            <a:avLst>
              <a:gd name="adj" fmla="val 5161"/>
            </a:avLst>
          </a:prstGeom>
          <a:solidFill>
            <a:srgbClr val="1A7A4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Text 16"/>
          <p:cNvSpPr/>
          <p:nvPr/>
        </p:nvSpPr>
        <p:spPr>
          <a:xfrm>
            <a:off x="7607808" y="29260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0" name="Text 17"/>
          <p:cNvSpPr/>
          <p:nvPr/>
        </p:nvSpPr>
        <p:spPr>
          <a:xfrm>
            <a:off x="7607808" y="356616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</a:t>
            </a:r>
            <a:endParaRPr lang="en-US" sz="85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21" name="Shape 18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CONTEXT — WHY AI IN HOSPITALITY NOW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496519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CLEO CEO BRIEFING  ·  JUNE 2026  ·  DARIA BYSTROVA — IRONHACK PROJECT 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market forces make inaction the riskiest choice — the window to lead is now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1536192"/>
            <a:ext cx="2011680" cy="1965960"/>
          </a:xfrm>
          <a:prstGeom prst="roundRect">
            <a:avLst>
              <a:gd name="adj" fmla="val 3721"/>
            </a:avLst>
          </a:prstGeom>
          <a:solidFill>
            <a:schemeClr val="accent4">
              <a:lumMod val="20000"/>
              <a:lumOff val="80000"/>
            </a:scheme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411480" y="16642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226771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hospitality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 say AI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significant impact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3017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Technologies 2026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468880" y="1536192"/>
            <a:ext cx="2011680" cy="1965960"/>
          </a:xfrm>
          <a:prstGeom prst="roundRect">
            <a:avLst>
              <a:gd name="adj" fmla="val 3721"/>
            </a:avLst>
          </a:prstGeom>
          <a:solidFill>
            <a:schemeClr val="accent6">
              <a:lumMod val="20000"/>
              <a:lumOff val="80000"/>
            </a:scheme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2560320" y="16642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60320" y="226771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uplift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AI-enabled revenue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vs peers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560320" y="3017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Technology News, Dec 2025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617720" y="1536192"/>
            <a:ext cx="2011680" cy="1965960"/>
          </a:xfrm>
          <a:prstGeom prst="roundRect">
            <a:avLst>
              <a:gd name="adj" fmla="val 3721"/>
            </a:avLst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4709160" y="16642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&lt;18mo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09160" y="226771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on AI pricing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personalisation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(McKinsey research)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09160" y="3017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via AI for Hospitality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766560" y="1536192"/>
            <a:ext cx="2011680" cy="1965960"/>
          </a:xfrm>
          <a:prstGeom prst="roundRect">
            <a:avLst>
              <a:gd name="adj" fmla="val 3721"/>
            </a:avLst>
          </a:prstGeom>
          <a:solidFill>
            <a:schemeClr val="accent2">
              <a:lumMod val="20000"/>
              <a:lumOff val="80000"/>
            </a:scheme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6858000" y="16642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8–14%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58000" y="226771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RevPAR advantage: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tech-forward operators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peers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858000" y="3017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materials 2024–25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20040" y="3657600"/>
            <a:ext cx="8503920" cy="658368"/>
          </a:xfrm>
          <a:prstGeom prst="roundRect">
            <a:avLst>
              <a:gd name="adj" fmla="val 8333"/>
            </a:avLst>
          </a:prstGeom>
          <a:solidFill>
            <a:srgbClr val="1B2B4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502920" y="3730752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$2.28B — AI hospitality market by 2030 (CAGR 57.7%, Business Research Co.)   ·   Competitors are answering 'how fast?' — not 'should we?'   ·   The window to lead is now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DASHBOARD (PLOTLY)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496519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CLEO CEO BRIEFING  ·  JUNE 2026  ·  DARIA BYSTROVA — IRONHACK PROJECT 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evidence charts confirm the business case — AI adopters outperform on every measurable dimension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1426464"/>
            <a:ext cx="8503920" cy="237744"/>
          </a:xfrm>
          <a:prstGeom prst="roundRect">
            <a:avLst>
              <a:gd name="adj" fmla="val 19231"/>
            </a:avLst>
          </a:prstGeom>
          <a:solidFill>
            <a:srgbClr val="1B2B4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457200" y="142646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 </a:t>
            </a: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(Python) 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Self-contained interactive HTML  ·  Open  </a:t>
            </a:r>
            <a:r>
              <a:rPr lang="en-US" sz="8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ai_adoption_dashboard.html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 any browser for live hover &amp; source citations  ·  Unlike Tableau, no server licence needed</a:t>
            </a:r>
            <a:endParaRPr lang="en-US" sz="85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2910351711"/>
              </p:ext>
            </p:extLst>
          </p:nvPr>
        </p:nvGraphicFramePr>
        <p:xfrm>
          <a:off x="320040" y="1719072"/>
          <a:ext cx="2761488" cy="15361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1"/>
          <p:cNvGraphicFramePr/>
          <p:nvPr>
            <p:extLst>
              <p:ext uri="{D42A27DB-BD31-4B8C-83A1-F6EECF244321}">
                <p14:modId xmlns:p14="http://schemas.microsoft.com/office/powerpoint/2010/main" val="2465713899"/>
              </p:ext>
            </p:extLst>
          </p:nvPr>
        </p:nvGraphicFramePr>
        <p:xfrm>
          <a:off x="3218688" y="1719072"/>
          <a:ext cx="2852928" cy="15361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art 2"/>
          <p:cNvGraphicFramePr/>
          <p:nvPr>
            <p:extLst>
              <p:ext uri="{D42A27DB-BD31-4B8C-83A1-F6EECF244321}">
                <p14:modId xmlns:p14="http://schemas.microsoft.com/office/powerpoint/2010/main" val="3758233359"/>
              </p:ext>
            </p:extLst>
          </p:nvPr>
        </p:nvGraphicFramePr>
        <p:xfrm>
          <a:off x="6199632" y="1719072"/>
          <a:ext cx="2624328" cy="15361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2" name="Chart 3"/>
          <p:cNvGraphicFramePr/>
          <p:nvPr>
            <p:extLst>
              <p:ext uri="{D42A27DB-BD31-4B8C-83A1-F6EECF244321}">
                <p14:modId xmlns:p14="http://schemas.microsoft.com/office/powerpoint/2010/main" val="1814781983"/>
              </p:ext>
            </p:extLst>
          </p:nvPr>
        </p:nvGraphicFramePr>
        <p:xfrm>
          <a:off x="320040" y="3346704"/>
          <a:ext cx="2761488" cy="1389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3" name="Chart 4"/>
          <p:cNvGraphicFramePr/>
          <p:nvPr>
            <p:extLst>
              <p:ext uri="{D42A27DB-BD31-4B8C-83A1-F6EECF244321}">
                <p14:modId xmlns:p14="http://schemas.microsoft.com/office/powerpoint/2010/main" val="3720684686"/>
              </p:ext>
            </p:extLst>
          </p:nvPr>
        </p:nvGraphicFramePr>
        <p:xfrm>
          <a:off x="3218688" y="3346704"/>
          <a:ext cx="2852928" cy="1389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4" name="Chart 5"/>
          <p:cNvGraphicFramePr/>
          <p:nvPr>
            <p:extLst>
              <p:ext uri="{D42A27DB-BD31-4B8C-83A1-F6EECF244321}">
                <p14:modId xmlns:p14="http://schemas.microsoft.com/office/powerpoint/2010/main" val="1565541937"/>
              </p:ext>
            </p:extLst>
          </p:nvPr>
        </p:nvGraphicFramePr>
        <p:xfrm>
          <a:off x="6199632" y="3346704"/>
          <a:ext cx="2624328" cy="1389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5" name="Text 7"/>
          <p:cNvSpPr/>
          <p:nvPr/>
        </p:nvSpPr>
        <p:spPr>
          <a:xfrm>
            <a:off x="320040" y="4818888"/>
            <a:ext cx="8823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Canary Technologies 2026 · Business Research Co. Apr 2026 · Hotel Technology News Dec 2025 · McKinsey/Ricci Apr 2026 · HVS European Serviced Apts Jul 2025   ·   *Charts 4 &amp; 6 are directional estimates from composite sources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ANALYSIS — HYPE VS EVIDENCE · WHAT THE DATA ACTUALLY SUPPORTS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496519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CLEO CEO BRIEFING  ·  JUNE 2026  ·  DARIA BYSTROVA — IRONHACK PROJECT 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AI claims are equal — verdicts based on: our own 119K booking data · cited industry research · first-hand LLM build experience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6032" y="1426464"/>
            <a:ext cx="8659368" cy="201168"/>
          </a:xfrm>
          <a:prstGeom prst="roundRect">
            <a:avLst>
              <a:gd name="adj" fmla="val 18182"/>
            </a:avLst>
          </a:prstGeom>
          <a:solidFill>
            <a:srgbClr val="E8EC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347472" y="1426464"/>
            <a:ext cx="8485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</a:t>
            </a:r>
            <a:r>
              <a:rPr lang="en-US" sz="7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confirmed by our data or ≥2 independent cited sources  ·  </a:t>
            </a:r>
            <a:r>
              <a:rPr lang="en-US" sz="7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r>
              <a:rPr lang="en-US" sz="7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real effect but outcome depends on Cleo’s specific context  ·  </a:t>
            </a:r>
            <a:r>
              <a:rPr lang="en-US" sz="7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</a:t>
            </a:r>
            <a:r>
              <a:rPr lang="en-US" sz="7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vendor claim exceeds evidence or carries unacceptable risk at this company size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6032" y="1679702"/>
            <a:ext cx="3273552" cy="237744"/>
          </a:xfrm>
          <a:prstGeom prst="roundRect">
            <a:avLst>
              <a:gd name="adj" fmla="val 19231"/>
            </a:avLst>
          </a:prstGeom>
          <a:solidFill>
            <a:srgbClr val="1A7A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347472" y="1673352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INVEST — CONFIRMED BY EVIDENCE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621024" y="1673352"/>
            <a:ext cx="2542032" cy="237744"/>
          </a:xfrm>
          <a:prstGeom prst="roundRect">
            <a:avLst>
              <a:gd name="adj" fmla="val 19231"/>
            </a:avLst>
          </a:prstGeom>
          <a:solidFill>
            <a:srgbClr val="E67E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3712464" y="1673352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PILOT — REAL BUT CONTEXT-DEPENDENT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254496" y="1673352"/>
            <a:ext cx="2670048" cy="237744"/>
          </a:xfrm>
          <a:prstGeom prst="roundRect">
            <a:avLst>
              <a:gd name="adj" fmla="val 19231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345936" y="167335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HYPE — OVERCLAIMED OR RISKY HERE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56032" y="1956816"/>
            <a:ext cx="3273552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256032" y="1956816"/>
            <a:ext cx="54864" cy="512064"/>
          </a:xfrm>
          <a:prstGeom prst="roundRect">
            <a:avLst>
              <a:gd name="adj" fmla="val 50000"/>
            </a:avLst>
          </a:prstGeom>
          <a:solidFill>
            <a:srgbClr val="1A7A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384048" y="1993392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prediction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84048" y="2157984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119K data: r=+.293 lead time, groups 61.1%, OTA 2.3× Direct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384048" y="231343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Signals are strong, consistent, and available in Cleo’s PMS today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56032" y="2514600"/>
            <a:ext cx="3273552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256032" y="2514600"/>
            <a:ext cx="54864" cy="512064"/>
          </a:xfrm>
          <a:prstGeom prst="roundRect">
            <a:avLst>
              <a:gd name="adj" fmla="val 50000"/>
            </a:avLst>
          </a:prstGeom>
          <a:solidFill>
            <a:srgbClr val="1A7A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384048" y="2551176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+10–15% ADR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84048" y="2715768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Tech News Dec 2025 · Our data: €5.42 gap on 20.9% demand swing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384048" y="2871216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Gap confirmed in our data — near-zero current pricing = high upside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56032" y="3072384"/>
            <a:ext cx="3273552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256032" y="3072384"/>
            <a:ext cx="54864" cy="512064"/>
          </a:xfrm>
          <a:prstGeom prst="roundRect">
            <a:avLst>
              <a:gd name="adj" fmla="val 50000"/>
            </a:avLst>
          </a:prstGeom>
          <a:solidFill>
            <a:srgbClr val="1A7A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384048" y="3108960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McKinsey: 3–10% revenue uplift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84048" y="3273552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McKinsey/Ricci Apr 2026 · &lt;18mo payback · credible non-vendor source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384048" y="3429000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Conservative end (3–5%) is achievable; not vendor marketing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56032" y="3630168"/>
            <a:ext cx="3273552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1" name="Shape 29"/>
          <p:cNvSpPr/>
          <p:nvPr/>
        </p:nvSpPr>
        <p:spPr>
          <a:xfrm>
            <a:off x="256032" y="3630168"/>
            <a:ext cx="54864" cy="512064"/>
          </a:xfrm>
          <a:prstGeom prst="roundRect">
            <a:avLst>
              <a:gd name="adj" fmla="val 50000"/>
            </a:avLst>
          </a:prstGeom>
          <a:solidFill>
            <a:srgbClr val="1A7A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384048" y="3666744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early movers: 8–14% RevPAR gap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84048" y="3831336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BobW/Limehome/Numa investor materials 2024–25 · HVS Jul 2025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384048" y="3986784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Competitive pressure is real even if exact % is a directional estimate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56032" y="4187952"/>
            <a:ext cx="3273552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6" name="Shape 34"/>
          <p:cNvSpPr/>
          <p:nvPr/>
        </p:nvSpPr>
        <p:spPr>
          <a:xfrm>
            <a:off x="256032" y="4187952"/>
            <a:ext cx="54864" cy="512064"/>
          </a:xfrm>
          <a:prstGeom prst="roundRect">
            <a:avLst>
              <a:gd name="adj" fmla="val 50000"/>
            </a:avLst>
          </a:prstGeom>
          <a:solidFill>
            <a:srgbClr val="1A7A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384048" y="4224528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requests = protective signal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84048" y="4389120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data: 0 requests → 48% cancel · 4+ requests → 5% cancel (r=−0.235)</a:t>
            </a:r>
            <a:endParaRPr lang="en-US" sz="680" dirty="0"/>
          </a:p>
        </p:txBody>
      </p:sp>
      <p:sp>
        <p:nvSpPr>
          <p:cNvPr id="39" name="Text 37"/>
          <p:cNvSpPr/>
          <p:nvPr/>
        </p:nvSpPr>
        <p:spPr>
          <a:xfrm>
            <a:off x="384048" y="4544568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Cheap, immediate action — send preference surveys pre-arrival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621024" y="1956816"/>
            <a:ext cx="2542032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1" name="Shape 39"/>
          <p:cNvSpPr/>
          <p:nvPr/>
        </p:nvSpPr>
        <p:spPr>
          <a:xfrm>
            <a:off x="3621024" y="1956816"/>
            <a:ext cx="54864" cy="512064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2" name="Text 40"/>
          <p:cNvSpPr/>
          <p:nvPr/>
        </p:nvSpPr>
        <p:spPr>
          <a:xfrm>
            <a:off x="3749040" y="199339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reduction 30–50%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749040" y="2157984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claim · automation handles routine only · complex comms still need humans</a:t>
            </a:r>
            <a:endParaRPr lang="en-US" sz="680" dirty="0"/>
          </a:p>
        </p:txBody>
      </p:sp>
      <p:sp>
        <p:nvSpPr>
          <p:cNvPr id="44" name="Text 42"/>
          <p:cNvSpPr/>
          <p:nvPr/>
        </p:nvSpPr>
        <p:spPr>
          <a:xfrm>
            <a:off x="3749040" y="2313432"/>
            <a:ext cx="2450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Measure actual time saved in pilot before any staffing decisions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3621024" y="2514600"/>
            <a:ext cx="2542032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6" name="Shape 44"/>
          <p:cNvSpPr/>
          <p:nvPr/>
        </p:nvSpPr>
        <p:spPr>
          <a:xfrm>
            <a:off x="3621024" y="2514600"/>
            <a:ext cx="54864" cy="512064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7" name="Text 45"/>
          <p:cNvSpPr/>
          <p:nvPr/>
        </p:nvSpPr>
        <p:spPr>
          <a:xfrm>
            <a:off x="3749040" y="255117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forecasting +20% accuracy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749040" y="271576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vs legacy RMS · may be smaller vs Cleo’s current human forecasting</a:t>
            </a:r>
            <a:endParaRPr lang="en-US" sz="680" dirty="0"/>
          </a:p>
        </p:txBody>
      </p:sp>
      <p:sp>
        <p:nvSpPr>
          <p:cNvPr id="49" name="Text 47"/>
          <p:cNvSpPr/>
          <p:nvPr/>
        </p:nvSpPr>
        <p:spPr>
          <a:xfrm>
            <a:off x="3749040" y="2871216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Validate against your actual baseline before buying a new RMS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3621024" y="3072384"/>
            <a:ext cx="2542032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1" name="Shape 49"/>
          <p:cNvSpPr/>
          <p:nvPr/>
        </p:nvSpPr>
        <p:spPr>
          <a:xfrm>
            <a:off x="3621024" y="3072384"/>
            <a:ext cx="54864" cy="512064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2" name="Text 50"/>
          <p:cNvSpPr/>
          <p:nvPr/>
        </p:nvSpPr>
        <p:spPr>
          <a:xfrm>
            <a:off x="3749040" y="310896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NPS +10–15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749040" y="327355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outcomes · good for simple queries · damages satisfaction without escalation path</a:t>
            </a:r>
            <a:endParaRPr lang="en-US" sz="680" dirty="0"/>
          </a:p>
        </p:txBody>
      </p:sp>
      <p:sp>
        <p:nvSpPr>
          <p:cNvPr id="54" name="Text 52"/>
          <p:cNvSpPr/>
          <p:nvPr/>
        </p:nvSpPr>
        <p:spPr>
          <a:xfrm>
            <a:off x="3749040" y="3429000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Design human handoff first · Phase 4 consideration, not Phase 1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6254496" y="1956816"/>
            <a:ext cx="2670048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6" name="Shape 54"/>
          <p:cNvSpPr/>
          <p:nvPr/>
        </p:nvSpPr>
        <p:spPr>
          <a:xfrm>
            <a:off x="6254496" y="1956816"/>
            <a:ext cx="54864" cy="51206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7" name="Text 55"/>
          <p:cNvSpPr/>
          <p:nvPr/>
        </p:nvSpPr>
        <p:spPr>
          <a:xfrm>
            <a:off x="6382512" y="1993392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pricing, no human override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382512" y="2157984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rate parity clauses · EU AI Act human oversight requirement · manager trust gap</a:t>
            </a:r>
            <a:endParaRPr lang="en-US" sz="680" dirty="0"/>
          </a:p>
        </p:txBody>
      </p:sp>
      <p:sp>
        <p:nvSpPr>
          <p:cNvPr id="59" name="Text 57"/>
          <p:cNvSpPr/>
          <p:nvPr/>
        </p:nvSpPr>
        <p:spPr>
          <a:xfrm>
            <a:off x="6382512" y="2359152"/>
            <a:ext cx="2633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Rules engine + human approval first · autonomous only after 12mo trust-building</a:t>
            </a:r>
            <a:endParaRPr lang="en-US" sz="600" dirty="0"/>
          </a:p>
        </p:txBody>
      </p:sp>
      <p:sp>
        <p:nvSpPr>
          <p:cNvPr id="65" name="Shape 63"/>
          <p:cNvSpPr/>
          <p:nvPr/>
        </p:nvSpPr>
        <p:spPr>
          <a:xfrm>
            <a:off x="6254496" y="2523744"/>
            <a:ext cx="2670048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6" name="Shape 64"/>
          <p:cNvSpPr/>
          <p:nvPr/>
        </p:nvSpPr>
        <p:spPr>
          <a:xfrm>
            <a:off x="6254496" y="2523744"/>
            <a:ext cx="54864" cy="51206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7" name="Text 65"/>
          <p:cNvSpPr/>
          <p:nvPr/>
        </p:nvSpPr>
        <p:spPr>
          <a:xfrm>
            <a:off x="6382512" y="2560320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ML team to start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382512" y="2724912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built: LangChain agent + 11 tools + n8n workflow + Tableau — one analyst, zero ML engineers</a:t>
            </a:r>
            <a:endParaRPr lang="en-US" sz="680" dirty="0"/>
          </a:p>
        </p:txBody>
      </p:sp>
      <p:sp>
        <p:nvSpPr>
          <p:cNvPr id="69" name="Text 67"/>
          <p:cNvSpPr/>
          <p:nvPr/>
        </p:nvSpPr>
        <p:spPr>
          <a:xfrm>
            <a:off x="6382512" y="2880360"/>
            <a:ext cx="2487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Start lean · add ML capability only if pilot proves ROI</a:t>
            </a:r>
            <a:endParaRPr lang="en-US" sz="600" dirty="0"/>
          </a:p>
        </p:txBody>
      </p:sp>
      <p:sp>
        <p:nvSpPr>
          <p:cNvPr id="70" name="Shape 68"/>
          <p:cNvSpPr/>
          <p:nvPr/>
        </p:nvSpPr>
        <p:spPr>
          <a:xfrm>
            <a:off x="256032" y="4727448"/>
            <a:ext cx="8659368" cy="256032"/>
          </a:xfrm>
          <a:prstGeom prst="roundRect">
            <a:avLst>
              <a:gd name="adj" fmla="val 21429"/>
            </a:avLst>
          </a:prstGeom>
          <a:solidFill>
            <a:srgbClr val="1B2B4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1" name="Text 69"/>
          <p:cNvSpPr/>
          <p:nvPr/>
        </p:nvSpPr>
        <p:spPr>
          <a:xfrm>
            <a:off x="411480" y="4727448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First-hand evidence from building this system: </a:t>
            </a: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self-evaluation bias confirmed (same model generated and judged = inflated 4.6/5) · hallucination when tools have no data · prompt sensitivity affects output quality · </a:t>
            </a:r>
            <a:r>
              <a:rPr lang="en-US" sz="78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reasoning in hype_vs_evidence.md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USE CASES · WHAT EACH SOLVES · REVENUE OPPORTUNITY CALCULATION FROM DATASET DATA ONLY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is the only use case with confirmed calculations — UC1 problem is proven, UC3 tools built but no output numbers presented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8503920" cy="219456"/>
          </a:xfrm>
          <a:prstGeom prst="roundRect">
            <a:avLst>
              <a:gd name="adj" fmla="val 16667"/>
            </a:avLst>
          </a:prstGeom>
          <a:solidFill>
            <a:srgbClr val="1B2B4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basis: 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Hotel Booking Demand · 2 Portuguese hotels (Lisbon city + Algarve resort) · July 2015–Aug 2017 · 119,390 bookings · 32 columns  ·  </a:t>
            </a:r>
            <a:r>
              <a:rPr lang="en-US" sz="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Cleo as directional proxy — must be validated against Cleo's own PMS in Phase 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56032" y="1572768"/>
            <a:ext cx="2852928" cy="3183376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256032" y="1572768"/>
            <a:ext cx="2852928" cy="475488"/>
          </a:xfrm>
          <a:prstGeom prst="roundRect">
            <a:avLst>
              <a:gd name="adj" fmla="val 15385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256032" y="1865376"/>
            <a:ext cx="2852928" cy="182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365760" y="1627632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— CANCELLATION PREDICTION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1819656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solves: flag high-risk bookings before they cancel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4048" y="2121408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FROM DATASET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4048" y="2304288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119,390 total bookings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84048" y="2532888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37.5% cancellation rate = 44,771 cancellations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84048" y="2761488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ADR €118 · avg stay 3.0 nights (city hotel)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84048" y="2990088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OTA cancels at 41% vs Direct 17.5%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84048" y="3291840"/>
            <a:ext cx="2596896" cy="0"/>
          </a:xfrm>
          <a:prstGeom prst="line">
            <a:avLst/>
          </a:prstGeom>
          <a:noFill/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384048" y="3364992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84048" y="3547872"/>
            <a:ext cx="2596896" cy="475488"/>
          </a:xfrm>
          <a:prstGeom prst="roundRect">
            <a:avLst>
              <a:gd name="adj" fmla="val 9615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457200" y="3575304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D4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44,771 cancellations × 10% recovery (est.)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3D4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 €118 ADR × 3.0 nights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84048" y="4096512"/>
            <a:ext cx="2596896" cy="475488"/>
          </a:xfrm>
          <a:prstGeom prst="roundRect">
            <a:avLst>
              <a:gd name="adj" fmla="val 11538"/>
            </a:avLst>
          </a:prstGeom>
          <a:solidFill>
            <a:srgbClr val="C0392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384048" y="4151376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€1.6M conservative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84048" y="4370832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10% recovery · €3.2M at 20% recovery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46120" y="1572768"/>
            <a:ext cx="2852928" cy="3183376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3246120" y="1572768"/>
            <a:ext cx="2852928" cy="475488"/>
          </a:xfrm>
          <a:prstGeom prst="roundRect">
            <a:avLst>
              <a:gd name="adj" fmla="val 15385"/>
            </a:avLst>
          </a:prstGeom>
          <a:solidFill>
            <a:srgbClr val="1A7A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3246120" y="1865376"/>
            <a:ext cx="2852928" cy="1828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3355848" y="1627632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 — DYNAMIC PRICING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55848" y="1819656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solves: capture revenue gap on high-demand nights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74136" y="2121408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FROM DATASET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374136" y="2304288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€5.42 ADR gap: peak (Oct €118.43) vs low (May €113.00)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374136" y="2532888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20.9% demand swing across months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74136" y="2761488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74,619 stayed bookings · 15,595 in peak months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374136" y="2990088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ADR €118 · avg stay 3.0 nights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374136" y="3291840"/>
            <a:ext cx="2596896" cy="0"/>
          </a:xfrm>
          <a:prstGeom prst="line">
            <a:avLst/>
          </a:prstGeom>
          <a:noFill/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>
            <a:off x="3374136" y="3364992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374136" y="3547872"/>
            <a:ext cx="2596896" cy="475488"/>
          </a:xfrm>
          <a:prstGeom prst="roundRect">
            <a:avLst>
              <a:gd name="adj" fmla="val 9615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3447288" y="3575304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D4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15,595 peak bookings × 50% of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3D4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€5.42 gap × 3.0 nights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374136" y="4096512"/>
            <a:ext cx="2596896" cy="475488"/>
          </a:xfrm>
          <a:prstGeom prst="roundRect">
            <a:avLst>
              <a:gd name="adj" fmla="val 11538"/>
            </a:avLst>
          </a:prstGeom>
          <a:solidFill>
            <a:srgbClr val="1A7A4A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/>
          <p:nvPr/>
        </p:nvSpPr>
        <p:spPr>
          <a:xfrm>
            <a:off x="3374136" y="4151376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€127K conservative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374136" y="4370832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gap only — volume uplift not calculable from this data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236208" y="1572768"/>
            <a:ext cx="2852928" cy="3183376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2" name="Shape 40"/>
          <p:cNvSpPr/>
          <p:nvPr/>
        </p:nvSpPr>
        <p:spPr>
          <a:xfrm>
            <a:off x="6236208" y="1572768"/>
            <a:ext cx="2852928" cy="475488"/>
          </a:xfrm>
          <a:prstGeom prst="roundRect">
            <a:avLst>
              <a:gd name="adj" fmla="val 15385"/>
            </a:avLst>
          </a:prstGeom>
          <a:solidFill>
            <a:srgbClr val="6B2D5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3" name="Shape 41"/>
          <p:cNvSpPr/>
          <p:nvPr/>
        </p:nvSpPr>
        <p:spPr>
          <a:xfrm>
            <a:off x="6236208" y="1865376"/>
            <a:ext cx="2852928" cy="182880"/>
          </a:xfrm>
          <a:prstGeom prst="rect">
            <a:avLst/>
          </a:prstGeom>
          <a:solidFill>
            <a:srgbClr val="6B2D5E"/>
          </a:solidFill>
          <a:ln w="12700">
            <a:solidFill>
              <a:srgbClr val="6B2D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Text 42"/>
          <p:cNvSpPr/>
          <p:nvPr/>
        </p:nvSpPr>
        <p:spPr>
          <a:xfrm>
            <a:off x="6345936" y="1627632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— UPSELL AUTOMATION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345936" y="1819656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solves: personalised pre-arrival upsells at scale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364224" y="2121408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FROM DATASET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364224" y="2304288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74,619 stayed bookings — potential upsell targets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364224" y="2532888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10+ cities, 500 employees — manual upsells impossible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364224" y="2761488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Tools built: upsell_opportunity(), repeat_guest(), guest_origin()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364224" y="2990088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ran all 3 tools · output in raw_insights.json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364224" y="3291840"/>
            <a:ext cx="2596896" cy="0"/>
          </a:xfrm>
          <a:prstGeom prst="line">
            <a:avLst/>
          </a:prstGeom>
          <a:noFill/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2" name="Text 50"/>
          <p:cNvSpPr/>
          <p:nvPr/>
        </p:nvSpPr>
        <p:spPr>
          <a:xfrm>
            <a:off x="6364224" y="3364992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364224" y="3547872"/>
            <a:ext cx="2596896" cy="475488"/>
          </a:xfrm>
          <a:prstGeom prst="roundRect">
            <a:avLst>
              <a:gd name="adj" fmla="val 9615"/>
            </a:avLst>
          </a:prstGeom>
          <a:solidFill>
            <a:srgbClr val="FEF9E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4" name="Text 52"/>
          <p:cNvSpPr/>
          <p:nvPr/>
        </p:nvSpPr>
        <p:spPr>
          <a:xfrm>
            <a:off x="6437376" y="3575304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8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confirmed output numbers from this dataset.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output exists in raw_insights.json only.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364224" y="4096512"/>
            <a:ext cx="2596896" cy="475488"/>
          </a:xfrm>
          <a:prstGeom prst="roundRect">
            <a:avLst>
              <a:gd name="adj" fmla="val 11538"/>
            </a:avLst>
          </a:prstGeom>
          <a:solidFill>
            <a:srgbClr val="E8ECF2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6" name="Text 54"/>
          <p:cNvSpPr/>
          <p:nvPr/>
        </p:nvSpPr>
        <p:spPr>
          <a:xfrm>
            <a:off x="6364224" y="4151376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calculate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364224" y="4370832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Cleo's actual upsell conversion data from PMS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 flipV="1">
            <a:off x="270932" y="4623387"/>
            <a:ext cx="8818203" cy="268653"/>
          </a:xfrm>
          <a:prstGeom prst="roundRect">
            <a:avLst>
              <a:gd name="adj" fmla="val 22727"/>
            </a:avLst>
          </a:prstGeom>
          <a:solidFill>
            <a:srgbClr val="1B2B4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9" name="Text 57"/>
          <p:cNvSpPr/>
          <p:nvPr/>
        </p:nvSpPr>
        <p:spPr>
          <a:xfrm>
            <a:off x="425196" y="464972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 + UC2 combined conservative: 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€1.6M (UC2) + €127K (UC1) = </a:t>
            </a: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€1.7M minimum  ·  </a:t>
            </a: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from Kaggle dataset (2 Portuguese hotels, 2015–2017) applied as proxy — validate against Cleo PMS in Phase 1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1" name="Text 59"/>
          <p:cNvSpPr/>
          <p:nvPr/>
        </p:nvSpPr>
        <p:spPr>
          <a:xfrm>
            <a:off x="365760" y="496519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CLEO CEO BRIEFING  ·  JUNE 2026  ·  DARIA BYSTROVA — IRONHACK PROJECT 5</a:t>
            </a:r>
            <a:endParaRPr lang="en-US" sz="7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2EF51DA-8C98-69B5-84CF-442971B10A59}"/>
              </a:ext>
            </a:extLst>
          </p:cNvPr>
          <p:cNvSpPr/>
          <p:nvPr/>
        </p:nvSpPr>
        <p:spPr>
          <a:xfrm>
            <a:off x="148250" y="1525953"/>
            <a:ext cx="2984754" cy="3097434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 ARCHITECTURE — DATA FLOW · AGENT · INSIGHTS · EVALUATION · EMAIL TRIGGER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91440" y="548640"/>
            <a:ext cx="1024128" cy="804672"/>
          </a:xfrm>
          <a:prstGeom prst="roundRect">
            <a:avLst>
              <a:gd name="adj" fmla="val 4545"/>
            </a:avLst>
          </a:prstGeom>
          <a:solidFill>
            <a:srgbClr val="1A527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91440" y="548640"/>
            <a:ext cx="1024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INPUT &amp;</a:t>
            </a:r>
            <a:endParaRPr lang="en-US" sz="620" dirty="0"/>
          </a:p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620" dirty="0"/>
          </a:p>
        </p:txBody>
      </p:sp>
      <p:sp>
        <p:nvSpPr>
          <p:cNvPr id="6" name="Shape 4"/>
          <p:cNvSpPr/>
          <p:nvPr/>
        </p:nvSpPr>
        <p:spPr>
          <a:xfrm>
            <a:off x="91440" y="1444752"/>
            <a:ext cx="1024128" cy="877824"/>
          </a:xfrm>
          <a:prstGeom prst="roundRect">
            <a:avLst>
              <a:gd name="adj" fmla="val 4167"/>
            </a:avLst>
          </a:prstGeom>
          <a:solidFill>
            <a:srgbClr val="6B2D5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91440" y="1444752"/>
            <a:ext cx="10241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EVAL</a:t>
            </a:r>
            <a:endParaRPr lang="en-US" sz="620" dirty="0"/>
          </a:p>
        </p:txBody>
      </p:sp>
      <p:sp>
        <p:nvSpPr>
          <p:cNvPr id="8" name="Shape 6"/>
          <p:cNvSpPr/>
          <p:nvPr/>
        </p:nvSpPr>
        <p:spPr>
          <a:xfrm>
            <a:off x="91440" y="2414016"/>
            <a:ext cx="1024128" cy="731520"/>
          </a:xfrm>
          <a:prstGeom prst="roundRect">
            <a:avLst>
              <a:gd name="adj" fmla="val 5000"/>
            </a:avLst>
          </a:prstGeom>
          <a:solidFill>
            <a:srgbClr val="6B2D5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91440" y="2414016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KEY</a:t>
            </a:r>
            <a:endParaRPr lang="en-US" sz="620" dirty="0"/>
          </a:p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620" dirty="0"/>
          </a:p>
        </p:txBody>
      </p:sp>
      <p:sp>
        <p:nvSpPr>
          <p:cNvPr id="10" name="Shape 8"/>
          <p:cNvSpPr/>
          <p:nvPr/>
        </p:nvSpPr>
        <p:spPr>
          <a:xfrm>
            <a:off x="91440" y="3236976"/>
            <a:ext cx="1024128" cy="896112"/>
          </a:xfrm>
          <a:prstGeom prst="roundRect">
            <a:avLst>
              <a:gd name="adj" fmla="val 4082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91440" y="3236976"/>
            <a:ext cx="10241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EMAIL</a:t>
            </a:r>
            <a:endParaRPr lang="en-US" sz="620" dirty="0"/>
          </a:p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620" dirty="0"/>
          </a:p>
        </p:txBody>
      </p:sp>
      <p:sp>
        <p:nvSpPr>
          <p:cNvPr id="12" name="Shape 10"/>
          <p:cNvSpPr/>
          <p:nvPr/>
        </p:nvSpPr>
        <p:spPr>
          <a:xfrm>
            <a:off x="91440" y="4224528"/>
            <a:ext cx="1024128" cy="420624"/>
          </a:xfrm>
          <a:prstGeom prst="roundRect">
            <a:avLst>
              <a:gd name="adj" fmla="val 8696"/>
            </a:avLst>
          </a:prstGeom>
          <a:solidFill>
            <a:srgbClr val="1A7A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91440" y="4224528"/>
            <a:ext cx="1024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REPORT</a:t>
            </a:r>
            <a:endParaRPr lang="en-US" sz="620" dirty="0"/>
          </a:p>
        </p:txBody>
      </p:sp>
      <p:sp>
        <p:nvSpPr>
          <p:cNvPr id="14" name="Shape 12"/>
          <p:cNvSpPr/>
          <p:nvPr/>
        </p:nvSpPr>
        <p:spPr>
          <a:xfrm>
            <a:off x="1170432" y="548640"/>
            <a:ext cx="1682496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1170432" y="548640"/>
            <a:ext cx="1682496" cy="201168"/>
          </a:xfrm>
          <a:prstGeom prst="roundRect">
            <a:avLst>
              <a:gd name="adj" fmla="val 27273"/>
            </a:avLst>
          </a:prstGeom>
          <a:solidFill>
            <a:srgbClr val="1A527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1170432" y="649224"/>
            <a:ext cx="1682496" cy="1005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1261872" y="548640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bookings_clean.csv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1261872" y="786384"/>
            <a:ext cx="1499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119,390 rows · 32 columns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2 Portuguese hotels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(Lisbon city + Algarve resort)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2015 – Aug 2017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for Cleo PMS data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871216" y="950976"/>
            <a:ext cx="36576" cy="0"/>
          </a:xfrm>
          <a:prstGeom prst="line">
            <a:avLst/>
          </a:prstGeom>
          <a:noFill/>
          <a:ln w="15240">
            <a:solidFill>
              <a:srgbClr val="8896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2871216" y="905256"/>
            <a:ext cx="36576" cy="91440"/>
          </a:xfrm>
          <a:prstGeom prst="roundRect">
            <a:avLst>
              <a:gd name="adj" fmla="val 25000"/>
            </a:avLst>
          </a:prstGeom>
          <a:solidFill>
            <a:srgbClr val="8896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2926080" y="548640"/>
            <a:ext cx="1682496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2926080" y="548640"/>
            <a:ext cx="1682496" cy="201168"/>
          </a:xfrm>
          <a:prstGeom prst="roundRect">
            <a:avLst>
              <a:gd name="adj" fmla="val 27273"/>
            </a:avLst>
          </a:prstGeom>
          <a:solidFill>
            <a:srgbClr val="1A527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2926080" y="649224"/>
            <a:ext cx="1682496" cy="1005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3017520" y="548640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tools.py — 11 pandas tools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2980944" y="786384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 Pricing (4): adr_statistics,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seasonal_pricing, weekend_adr,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stay_length_adr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Cancel (4): cancel_rate,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lead_time, correlation, deposit_type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Upsell (3): </a:t>
            </a:r>
            <a:r>
              <a:rPr lang="en-US" sz="600" dirty="0" err="1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upsell_opp</a:t>
            </a:r>
            <a:r>
              <a:rPr lang="en-US" sz="6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600" dirty="0"/>
              <a:t> </a:t>
            </a:r>
            <a:r>
              <a:rPr lang="en-US" sz="600" dirty="0" err="1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repeat_guest</a:t>
            </a:r>
            <a:r>
              <a:rPr lang="en-US" sz="6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origin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4626864" y="950976"/>
            <a:ext cx="36576" cy="0"/>
          </a:xfrm>
          <a:prstGeom prst="line">
            <a:avLst/>
          </a:prstGeom>
          <a:noFill/>
          <a:ln w="15240">
            <a:solidFill>
              <a:srgbClr val="8896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Shape 25"/>
          <p:cNvSpPr/>
          <p:nvPr/>
        </p:nvSpPr>
        <p:spPr>
          <a:xfrm>
            <a:off x="4626864" y="905256"/>
            <a:ext cx="36576" cy="91440"/>
          </a:xfrm>
          <a:prstGeom prst="roundRect">
            <a:avLst>
              <a:gd name="adj" fmla="val 25000"/>
            </a:avLst>
          </a:prstGeom>
          <a:solidFill>
            <a:srgbClr val="8896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4681728" y="548640"/>
            <a:ext cx="1682496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9" name="Shape 27"/>
          <p:cNvSpPr/>
          <p:nvPr/>
        </p:nvSpPr>
        <p:spPr>
          <a:xfrm>
            <a:off x="4681728" y="548640"/>
            <a:ext cx="1682496" cy="201168"/>
          </a:xfrm>
          <a:prstGeom prst="roundRect">
            <a:avLst>
              <a:gd name="adj" fmla="val 27273"/>
            </a:avLst>
          </a:prstGeom>
          <a:solidFill>
            <a:srgbClr val="006B6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4681728" y="649224"/>
            <a:ext cx="1682496" cy="10058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4773168" y="548640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agent.py — LangChain agent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4773168" y="786384"/>
            <a:ext cx="1499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Claude Sonnet / GPT-4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(swappable via .env)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bind_tools loop — LLM plans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tool to call next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logged to terminal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auditable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6382512" y="950976"/>
            <a:ext cx="36576" cy="0"/>
          </a:xfrm>
          <a:prstGeom prst="line">
            <a:avLst/>
          </a:prstGeom>
          <a:noFill/>
          <a:ln w="15240">
            <a:solidFill>
              <a:srgbClr val="8896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Shape 32"/>
          <p:cNvSpPr/>
          <p:nvPr/>
        </p:nvSpPr>
        <p:spPr>
          <a:xfrm>
            <a:off x="6382512" y="905256"/>
            <a:ext cx="36576" cy="91440"/>
          </a:xfrm>
          <a:prstGeom prst="roundRect">
            <a:avLst>
              <a:gd name="adj" fmla="val 25000"/>
            </a:avLst>
          </a:prstGeom>
          <a:solidFill>
            <a:srgbClr val="8896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5" name="Shape 33"/>
          <p:cNvSpPr/>
          <p:nvPr/>
        </p:nvSpPr>
        <p:spPr>
          <a:xfrm>
            <a:off x="6437376" y="548640"/>
            <a:ext cx="1682496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6" name="Shape 34"/>
          <p:cNvSpPr/>
          <p:nvPr/>
        </p:nvSpPr>
        <p:spPr>
          <a:xfrm>
            <a:off x="6437376" y="548640"/>
            <a:ext cx="1682496" cy="201168"/>
          </a:xfrm>
          <a:prstGeom prst="roundRect">
            <a:avLst>
              <a:gd name="adj" fmla="val 27273"/>
            </a:avLst>
          </a:prstGeom>
          <a:solidFill>
            <a:srgbClr val="006B6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7" name="Shape 35"/>
          <p:cNvSpPr/>
          <p:nvPr/>
        </p:nvSpPr>
        <p:spPr>
          <a:xfrm>
            <a:off x="6437376" y="649224"/>
            <a:ext cx="1682496" cy="10058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6528816" y="548640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raw_insights.json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6528815" y="786384"/>
            <a:ext cx="144475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structured insights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insight contains: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headline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evidence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source_tool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limitation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action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7278624" y="1353312"/>
            <a:ext cx="0" cy="73152"/>
          </a:xfrm>
          <a:prstGeom prst="line">
            <a:avLst/>
          </a:prstGeom>
          <a:noFill/>
          <a:ln w="15240">
            <a:solidFill>
              <a:srgbClr val="8896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Shape 39"/>
          <p:cNvSpPr/>
          <p:nvPr/>
        </p:nvSpPr>
        <p:spPr>
          <a:xfrm>
            <a:off x="7232904" y="1389888"/>
            <a:ext cx="91440" cy="36576"/>
          </a:xfrm>
          <a:prstGeom prst="roundRect">
            <a:avLst>
              <a:gd name="adj" fmla="val 25000"/>
            </a:avLst>
          </a:prstGeom>
          <a:solidFill>
            <a:srgbClr val="8896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2" name="Shape 40"/>
          <p:cNvSpPr/>
          <p:nvPr/>
        </p:nvSpPr>
        <p:spPr>
          <a:xfrm>
            <a:off x="5522976" y="1883664"/>
            <a:ext cx="1755648" cy="0"/>
          </a:xfrm>
          <a:prstGeom prst="line">
            <a:avLst/>
          </a:prstGeom>
          <a:noFill/>
          <a:ln w="15240">
            <a:solidFill>
              <a:srgbClr val="8896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Shape 41"/>
          <p:cNvSpPr/>
          <p:nvPr/>
        </p:nvSpPr>
        <p:spPr>
          <a:xfrm>
            <a:off x="6327648" y="1837944"/>
            <a:ext cx="36576" cy="91440"/>
          </a:xfrm>
          <a:prstGeom prst="roundRect">
            <a:avLst>
              <a:gd name="adj" fmla="val 25000"/>
            </a:avLst>
          </a:prstGeom>
          <a:solidFill>
            <a:srgbClr val="8896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4" name="Shape 42"/>
          <p:cNvSpPr/>
          <p:nvPr/>
        </p:nvSpPr>
        <p:spPr>
          <a:xfrm>
            <a:off x="7278624" y="1444752"/>
            <a:ext cx="0" cy="438912"/>
          </a:xfrm>
          <a:prstGeom prst="line">
            <a:avLst/>
          </a:prstGeom>
          <a:noFill/>
          <a:ln w="15240">
            <a:solidFill>
              <a:srgbClr val="8896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Shape 43"/>
          <p:cNvSpPr/>
          <p:nvPr/>
        </p:nvSpPr>
        <p:spPr>
          <a:xfrm>
            <a:off x="4681728" y="1444752"/>
            <a:ext cx="1682496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6" name="Shape 44"/>
          <p:cNvSpPr/>
          <p:nvPr/>
        </p:nvSpPr>
        <p:spPr>
          <a:xfrm>
            <a:off x="4681728" y="1444752"/>
            <a:ext cx="1682496" cy="201168"/>
          </a:xfrm>
          <a:prstGeom prst="roundRect">
            <a:avLst>
              <a:gd name="adj" fmla="val 27273"/>
            </a:avLst>
          </a:prstGeom>
          <a:solidFill>
            <a:srgbClr val="6B2D5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7" name="Shape 45"/>
          <p:cNvSpPr/>
          <p:nvPr/>
        </p:nvSpPr>
        <p:spPr>
          <a:xfrm>
            <a:off x="4681728" y="1545336"/>
            <a:ext cx="1682496" cy="100584"/>
          </a:xfrm>
          <a:prstGeom prst="rect">
            <a:avLst/>
          </a:prstGeom>
          <a:solidFill>
            <a:srgbClr val="6B2D5E"/>
          </a:solidFill>
          <a:ln w="12700">
            <a:solidFill>
              <a:srgbClr val="6B2D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8" name="Text 46"/>
          <p:cNvSpPr/>
          <p:nvPr/>
        </p:nvSpPr>
        <p:spPr>
          <a:xfrm>
            <a:off x="4773168" y="1444752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insight_review.py — LLM judge</a:t>
            </a: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4773168" y="1682496"/>
            <a:ext cx="1499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defines 4 criteria: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Relevance (1–5)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Accuracy (1–5)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Actionability (1–5)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Clarity (1–5)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scores raw_insights.json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score + reasoning per insight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Self-evaluation bias — see slide 8</a:t>
            </a:r>
            <a:endParaRPr lang="en-US" sz="550" dirty="0"/>
          </a:p>
        </p:txBody>
      </p:sp>
      <p:sp>
        <p:nvSpPr>
          <p:cNvPr id="50" name="Shape 48"/>
          <p:cNvSpPr/>
          <p:nvPr/>
        </p:nvSpPr>
        <p:spPr>
          <a:xfrm>
            <a:off x="6382512" y="1883664"/>
            <a:ext cx="36576" cy="0"/>
          </a:xfrm>
          <a:prstGeom prst="line">
            <a:avLst/>
          </a:prstGeom>
          <a:noFill/>
          <a:ln w="15240">
            <a:solidFill>
              <a:srgbClr val="8896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1" name="Shape 49"/>
          <p:cNvSpPr/>
          <p:nvPr/>
        </p:nvSpPr>
        <p:spPr>
          <a:xfrm>
            <a:off x="6382512" y="1837944"/>
            <a:ext cx="36576" cy="91440"/>
          </a:xfrm>
          <a:prstGeom prst="roundRect">
            <a:avLst>
              <a:gd name="adj" fmla="val 25000"/>
            </a:avLst>
          </a:prstGeom>
          <a:solidFill>
            <a:srgbClr val="8896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2" name="Shape 50"/>
          <p:cNvSpPr/>
          <p:nvPr/>
        </p:nvSpPr>
        <p:spPr>
          <a:xfrm>
            <a:off x="6437376" y="1444752"/>
            <a:ext cx="1682496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3" name="Shape 51"/>
          <p:cNvSpPr/>
          <p:nvPr/>
        </p:nvSpPr>
        <p:spPr>
          <a:xfrm>
            <a:off x="6437376" y="1444752"/>
            <a:ext cx="1682496" cy="201168"/>
          </a:xfrm>
          <a:prstGeom prst="roundRect">
            <a:avLst>
              <a:gd name="adj" fmla="val 27273"/>
            </a:avLst>
          </a:prstGeom>
          <a:solidFill>
            <a:srgbClr val="6B2D5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4" name="Shape 52"/>
          <p:cNvSpPr/>
          <p:nvPr/>
        </p:nvSpPr>
        <p:spPr>
          <a:xfrm>
            <a:off x="6437376" y="1545336"/>
            <a:ext cx="1682496" cy="100584"/>
          </a:xfrm>
          <a:prstGeom prst="rect">
            <a:avLst/>
          </a:prstGeom>
          <a:solidFill>
            <a:srgbClr val="6B2D5E"/>
          </a:solidFill>
          <a:ln w="12700">
            <a:solidFill>
              <a:srgbClr val="6B2D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5" name="Text 53"/>
          <p:cNvSpPr/>
          <p:nvPr/>
        </p:nvSpPr>
        <p:spPr>
          <a:xfrm>
            <a:off x="6528816" y="1444752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evaluation_results.json</a:t>
            </a:r>
            <a:endParaRPr lang="en-US" sz="780" dirty="0"/>
          </a:p>
        </p:txBody>
      </p:sp>
      <p:sp>
        <p:nvSpPr>
          <p:cNvPr id="56" name="Text 54"/>
          <p:cNvSpPr/>
          <p:nvPr/>
        </p:nvSpPr>
        <p:spPr>
          <a:xfrm>
            <a:off x="6528816" y="1682496"/>
            <a:ext cx="1499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Per-insight scores × 4 dims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average: 4.6 / 5.0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logged per dimension</a:t>
            </a:r>
            <a:endParaRPr lang="en-US" sz="550" dirty="0"/>
          </a:p>
          <a:p>
            <a:pPr marL="0" indent="0">
              <a:buNone/>
            </a:pP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fed back into agent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static evaluation only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bias note: same model</a:t>
            </a:r>
            <a:endParaRPr lang="en-US" sz="550" dirty="0"/>
          </a:p>
        </p:txBody>
      </p:sp>
      <p:sp>
        <p:nvSpPr>
          <p:cNvPr id="57" name="Shape 55"/>
          <p:cNvSpPr/>
          <p:nvPr/>
        </p:nvSpPr>
        <p:spPr>
          <a:xfrm>
            <a:off x="1170432" y="1444752"/>
            <a:ext cx="3401568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8" name="Shape 56"/>
          <p:cNvSpPr/>
          <p:nvPr/>
        </p:nvSpPr>
        <p:spPr>
          <a:xfrm>
            <a:off x="1170432" y="1444752"/>
            <a:ext cx="3401568" cy="201168"/>
          </a:xfrm>
          <a:prstGeom prst="roundRect">
            <a:avLst>
              <a:gd name="adj" fmla="val 27273"/>
            </a:avLst>
          </a:prstGeom>
          <a:solidFill>
            <a:srgbClr val="6B2D5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9" name="Shape 57"/>
          <p:cNvSpPr/>
          <p:nvPr/>
        </p:nvSpPr>
        <p:spPr>
          <a:xfrm>
            <a:off x="1170432" y="1545336"/>
            <a:ext cx="3401568" cy="100584"/>
          </a:xfrm>
          <a:prstGeom prst="rect">
            <a:avLst/>
          </a:prstGeom>
          <a:solidFill>
            <a:srgbClr val="6B2D5E"/>
          </a:solidFill>
          <a:ln w="12700">
            <a:solidFill>
              <a:srgbClr val="6B2D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0" name="Text 58"/>
          <p:cNvSpPr/>
          <p:nvPr/>
        </p:nvSpPr>
        <p:spPr>
          <a:xfrm>
            <a:off x="1261872" y="1444752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LOOP — WHAT IT CHECKS</a:t>
            </a:r>
            <a:endParaRPr lang="en-US" sz="780" dirty="0"/>
          </a:p>
        </p:txBody>
      </p:sp>
      <p:sp>
        <p:nvSpPr>
          <p:cNvPr id="61" name="Text 59"/>
          <p:cNvSpPr/>
          <p:nvPr/>
        </p:nvSpPr>
        <p:spPr>
          <a:xfrm>
            <a:off x="1261872" y="1682496"/>
            <a:ext cx="3218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insight relevant to a hospitality CEO?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numbers plausible given the data?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specific action Cleo can take?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written in plain business language?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quality-gate before any insight reaches a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decision-maker — human review supplements scores</a:t>
            </a:r>
            <a:endParaRPr lang="en-US" sz="720" dirty="0"/>
          </a:p>
        </p:txBody>
      </p:sp>
      <p:sp>
        <p:nvSpPr>
          <p:cNvPr id="63" name="Shape 61"/>
          <p:cNvSpPr/>
          <p:nvPr/>
        </p:nvSpPr>
        <p:spPr>
          <a:xfrm>
            <a:off x="5477256" y="2359152"/>
            <a:ext cx="91440" cy="36576"/>
          </a:xfrm>
          <a:prstGeom prst="roundRect">
            <a:avLst>
              <a:gd name="adj" fmla="val 25000"/>
            </a:avLst>
          </a:prstGeom>
          <a:solidFill>
            <a:srgbClr val="8896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4" name="Shape 62"/>
          <p:cNvSpPr/>
          <p:nvPr/>
        </p:nvSpPr>
        <p:spPr>
          <a:xfrm>
            <a:off x="1170432" y="2414016"/>
            <a:ext cx="6894576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5" name="Shape 63"/>
          <p:cNvSpPr/>
          <p:nvPr/>
        </p:nvSpPr>
        <p:spPr>
          <a:xfrm>
            <a:off x="1170432" y="2414016"/>
            <a:ext cx="6894576" cy="201168"/>
          </a:xfrm>
          <a:prstGeom prst="roundRect">
            <a:avLst>
              <a:gd name="adj" fmla="val 27273"/>
            </a:avLst>
          </a:prstGeom>
          <a:solidFill>
            <a:srgbClr val="6B2D5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6" name="Shape 64"/>
          <p:cNvSpPr/>
          <p:nvPr/>
        </p:nvSpPr>
        <p:spPr>
          <a:xfrm>
            <a:off x="1170432" y="2514600"/>
            <a:ext cx="6894576" cy="100584"/>
          </a:xfrm>
          <a:prstGeom prst="rect">
            <a:avLst/>
          </a:prstGeom>
          <a:solidFill>
            <a:srgbClr val="6B2D5E"/>
          </a:solidFill>
          <a:ln w="12700">
            <a:solidFill>
              <a:srgbClr val="6B2D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7" name="Text 65"/>
          <p:cNvSpPr/>
          <p:nvPr/>
        </p:nvSpPr>
        <p:spPr>
          <a:xfrm>
            <a:off x="1261872" y="2414016"/>
            <a:ext cx="6711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AGENT (UC2 confirmed) — used to set n8n trigger rules below</a:t>
            </a:r>
            <a:endParaRPr lang="en-US" sz="780" dirty="0"/>
          </a:p>
        </p:txBody>
      </p:sp>
      <p:sp>
        <p:nvSpPr>
          <p:cNvPr id="68" name="Shape 66"/>
          <p:cNvSpPr/>
          <p:nvPr/>
        </p:nvSpPr>
        <p:spPr>
          <a:xfrm>
            <a:off x="1261872" y="2660904"/>
            <a:ext cx="1609344" cy="438912"/>
          </a:xfrm>
          <a:prstGeom prst="roundRect">
            <a:avLst>
              <a:gd name="adj" fmla="val 8333"/>
            </a:avLst>
          </a:prstGeom>
          <a:solidFill>
            <a:srgbClr val="E8EC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9" name="Text 67"/>
          <p:cNvSpPr/>
          <p:nvPr/>
        </p:nvSpPr>
        <p:spPr>
          <a:xfrm>
            <a:off x="1335024" y="26791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cancels 41%</a:t>
            </a:r>
            <a:endParaRPr lang="en-US" sz="720" dirty="0"/>
          </a:p>
          <a:p>
            <a:pPr marL="0" indent="0">
              <a:buNone/>
            </a:pPr>
            <a:r>
              <a:rPr lang="en-US" sz="72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Direct 17.5%</a:t>
            </a:r>
            <a:endParaRPr lang="en-US" sz="720" dirty="0"/>
          </a:p>
        </p:txBody>
      </p:sp>
      <p:sp>
        <p:nvSpPr>
          <p:cNvPr id="70" name="Text 68"/>
          <p:cNvSpPr/>
          <p:nvPr/>
        </p:nvSpPr>
        <p:spPr>
          <a:xfrm>
            <a:off x="1335024" y="289864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i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flag channel = OTA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2962656" y="2660904"/>
            <a:ext cx="1609344" cy="438912"/>
          </a:xfrm>
          <a:prstGeom prst="roundRect">
            <a:avLst>
              <a:gd name="adj" fmla="val 8333"/>
            </a:avLst>
          </a:prstGeom>
          <a:solidFill>
            <a:srgbClr val="E8EC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2" name="Text 70"/>
          <p:cNvSpPr/>
          <p:nvPr/>
        </p:nvSpPr>
        <p:spPr>
          <a:xfrm>
            <a:off x="3035808" y="26791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365d+ bookings</a:t>
            </a:r>
            <a:endParaRPr lang="en-US" sz="720" dirty="0"/>
          </a:p>
          <a:p>
            <a:pPr marL="0" indent="0">
              <a:buNone/>
            </a:pPr>
            <a:r>
              <a:rPr lang="en-US" sz="72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at 68%</a:t>
            </a:r>
            <a:endParaRPr lang="en-US" sz="720" dirty="0"/>
          </a:p>
        </p:txBody>
      </p:sp>
      <p:sp>
        <p:nvSpPr>
          <p:cNvPr id="73" name="Text 71"/>
          <p:cNvSpPr/>
          <p:nvPr/>
        </p:nvSpPr>
        <p:spPr>
          <a:xfrm>
            <a:off x="3035808" y="289864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i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flag lead_time &gt; 90d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4663440" y="2660904"/>
            <a:ext cx="1609344" cy="438912"/>
          </a:xfrm>
          <a:prstGeom prst="roundRect">
            <a:avLst>
              <a:gd name="adj" fmla="val 8333"/>
            </a:avLst>
          </a:prstGeom>
          <a:solidFill>
            <a:srgbClr val="E8EC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5" name="Text 73"/>
          <p:cNvSpPr/>
          <p:nvPr/>
        </p:nvSpPr>
        <p:spPr>
          <a:xfrm>
            <a:off x="4736592" y="26791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No-deposit =</a:t>
            </a:r>
            <a:endParaRPr lang="en-US" sz="720" dirty="0"/>
          </a:p>
          <a:p>
            <a:pPr marL="0" indent="0">
              <a:buNone/>
            </a:pPr>
            <a:r>
              <a:rPr lang="en-US" sz="72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cancel rate</a:t>
            </a:r>
            <a:endParaRPr lang="en-US" sz="720" dirty="0"/>
          </a:p>
        </p:txBody>
      </p:sp>
      <p:sp>
        <p:nvSpPr>
          <p:cNvPr id="76" name="Text 74"/>
          <p:cNvSpPr/>
          <p:nvPr/>
        </p:nvSpPr>
        <p:spPr>
          <a:xfrm>
            <a:off x="4736592" y="289864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i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flag deposit = none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6364224" y="2660904"/>
            <a:ext cx="1609344" cy="438912"/>
          </a:xfrm>
          <a:prstGeom prst="roundRect">
            <a:avLst>
              <a:gd name="adj" fmla="val 8333"/>
            </a:avLst>
          </a:prstGeom>
          <a:solidFill>
            <a:srgbClr val="E8EC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8" name="Text 76"/>
          <p:cNvSpPr/>
          <p:nvPr/>
        </p:nvSpPr>
        <p:spPr>
          <a:xfrm>
            <a:off x="6437376" y="26791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requests</a:t>
            </a:r>
            <a:endParaRPr lang="en-US" sz="720" dirty="0"/>
          </a:p>
          <a:p>
            <a:pPr marL="0" indent="0">
              <a:buNone/>
            </a:pPr>
            <a:r>
              <a:rPr lang="en-US" sz="72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protective</a:t>
            </a:r>
            <a:endParaRPr lang="en-US" sz="720" dirty="0"/>
          </a:p>
        </p:txBody>
      </p:sp>
      <p:sp>
        <p:nvSpPr>
          <p:cNvPr id="79" name="Text 77"/>
          <p:cNvSpPr/>
          <p:nvPr/>
        </p:nvSpPr>
        <p:spPr>
          <a:xfrm>
            <a:off x="6437376" y="289864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i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reduce risk if req &gt; 0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3026664" y="3145536"/>
            <a:ext cx="0" cy="73152"/>
          </a:xfrm>
          <a:prstGeom prst="line">
            <a:avLst/>
          </a:prstGeom>
          <a:noFill/>
          <a:ln w="15240">
            <a:solidFill>
              <a:srgbClr val="8896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1" name="Shape 79"/>
          <p:cNvSpPr/>
          <p:nvPr/>
        </p:nvSpPr>
        <p:spPr>
          <a:xfrm>
            <a:off x="2980944" y="3182112"/>
            <a:ext cx="91440" cy="36576"/>
          </a:xfrm>
          <a:prstGeom prst="roundRect">
            <a:avLst>
              <a:gd name="adj" fmla="val 25000"/>
            </a:avLst>
          </a:prstGeom>
          <a:solidFill>
            <a:srgbClr val="8896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2" name="Shape 80"/>
          <p:cNvSpPr/>
          <p:nvPr/>
        </p:nvSpPr>
        <p:spPr>
          <a:xfrm>
            <a:off x="1170432" y="3236976"/>
            <a:ext cx="1481328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3" name="Shape 81"/>
          <p:cNvSpPr/>
          <p:nvPr/>
        </p:nvSpPr>
        <p:spPr>
          <a:xfrm>
            <a:off x="1170432" y="3236976"/>
            <a:ext cx="1481328" cy="201168"/>
          </a:xfrm>
          <a:prstGeom prst="roundRect">
            <a:avLst>
              <a:gd name="adj" fmla="val 27273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4" name="Shape 82"/>
          <p:cNvSpPr/>
          <p:nvPr/>
        </p:nvSpPr>
        <p:spPr>
          <a:xfrm>
            <a:off x="1170432" y="3337560"/>
            <a:ext cx="1481328" cy="1005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5" name="Text 83"/>
          <p:cNvSpPr/>
          <p:nvPr/>
        </p:nvSpPr>
        <p:spPr>
          <a:xfrm>
            <a:off x="1261872" y="323697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WEBHOOK</a:t>
            </a:r>
            <a:endParaRPr lang="en-US" sz="780" dirty="0"/>
          </a:p>
        </p:txBody>
      </p:sp>
      <p:sp>
        <p:nvSpPr>
          <p:cNvPr id="86" name="Text 84"/>
          <p:cNvSpPr/>
          <p:nvPr/>
        </p:nvSpPr>
        <p:spPr>
          <a:xfrm>
            <a:off x="1225296" y="3438144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new PMS</a:t>
            </a:r>
            <a:r>
              <a:rPr lang="en-US" sz="550" dirty="0"/>
              <a:t> </a:t>
            </a:r>
            <a:r>
              <a:rPr lang="en-US" sz="5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created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fields passed: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guest_email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lead_time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channel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segment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booking_id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check-in date</a:t>
            </a:r>
            <a:endParaRPr lang="en-US" sz="550" dirty="0"/>
          </a:p>
        </p:txBody>
      </p:sp>
      <p:sp>
        <p:nvSpPr>
          <p:cNvPr id="87" name="Shape 85"/>
          <p:cNvSpPr/>
          <p:nvPr/>
        </p:nvSpPr>
        <p:spPr>
          <a:xfrm>
            <a:off x="2670048" y="3685032"/>
            <a:ext cx="36576" cy="0"/>
          </a:xfrm>
          <a:prstGeom prst="line">
            <a:avLst/>
          </a:prstGeom>
          <a:noFill/>
          <a:ln w="15240">
            <a:solidFill>
              <a:srgbClr val="8896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8" name="Shape 86"/>
          <p:cNvSpPr/>
          <p:nvPr/>
        </p:nvSpPr>
        <p:spPr>
          <a:xfrm>
            <a:off x="2670048" y="3639312"/>
            <a:ext cx="36576" cy="91440"/>
          </a:xfrm>
          <a:prstGeom prst="roundRect">
            <a:avLst>
              <a:gd name="adj" fmla="val 25000"/>
            </a:avLst>
          </a:prstGeom>
          <a:solidFill>
            <a:srgbClr val="8896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9" name="Shape 87"/>
          <p:cNvSpPr/>
          <p:nvPr/>
        </p:nvSpPr>
        <p:spPr>
          <a:xfrm>
            <a:off x="2724912" y="3300730"/>
            <a:ext cx="1481328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de-DE" sz="700" dirty="0"/>
          </a:p>
        </p:txBody>
      </p:sp>
      <p:sp>
        <p:nvSpPr>
          <p:cNvPr id="90" name="Shape 88"/>
          <p:cNvSpPr/>
          <p:nvPr/>
        </p:nvSpPr>
        <p:spPr>
          <a:xfrm>
            <a:off x="2724912" y="3236976"/>
            <a:ext cx="1481328" cy="201168"/>
          </a:xfrm>
          <a:prstGeom prst="roundRect">
            <a:avLst>
              <a:gd name="adj" fmla="val 27273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1" name="Shape 89"/>
          <p:cNvSpPr/>
          <p:nvPr/>
        </p:nvSpPr>
        <p:spPr>
          <a:xfrm>
            <a:off x="2724912" y="3337560"/>
            <a:ext cx="1481328" cy="1005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2" name="Text 90"/>
          <p:cNvSpPr/>
          <p:nvPr/>
        </p:nvSpPr>
        <p:spPr>
          <a:xfrm>
            <a:off x="2816352" y="323697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FILTER</a:t>
            </a:r>
            <a:endParaRPr lang="en-US" sz="780" dirty="0"/>
          </a:p>
        </p:txBody>
      </p:sp>
      <p:sp>
        <p:nvSpPr>
          <p:cNvPr id="93" name="Text 91"/>
          <p:cNvSpPr/>
          <p:nvPr/>
        </p:nvSpPr>
        <p:spPr>
          <a:xfrm>
            <a:off x="2816352" y="3474720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channel = OTA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OR </a:t>
            </a:r>
            <a:r>
              <a:rPr lang="en-US" sz="680" dirty="0" err="1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lead_time</a:t>
            </a:r>
            <a:r>
              <a:rPr lang="en-US" sz="68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90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OR deposit = none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→ high risk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pass to LLM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→ skip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email sent)</a:t>
            </a:r>
            <a:endParaRPr lang="en-US" sz="680" dirty="0"/>
          </a:p>
        </p:txBody>
      </p:sp>
      <p:sp>
        <p:nvSpPr>
          <p:cNvPr id="94" name="Shape 92"/>
          <p:cNvSpPr/>
          <p:nvPr/>
        </p:nvSpPr>
        <p:spPr>
          <a:xfrm>
            <a:off x="4224528" y="3685032"/>
            <a:ext cx="36576" cy="0"/>
          </a:xfrm>
          <a:prstGeom prst="line">
            <a:avLst/>
          </a:prstGeom>
          <a:noFill/>
          <a:ln w="15240">
            <a:solidFill>
              <a:srgbClr val="8896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5" name="Shape 93"/>
          <p:cNvSpPr/>
          <p:nvPr/>
        </p:nvSpPr>
        <p:spPr>
          <a:xfrm>
            <a:off x="4224528" y="3639312"/>
            <a:ext cx="36576" cy="91440"/>
          </a:xfrm>
          <a:prstGeom prst="roundRect">
            <a:avLst>
              <a:gd name="adj" fmla="val 25000"/>
            </a:avLst>
          </a:prstGeom>
          <a:solidFill>
            <a:srgbClr val="8896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6" name="Shape 94"/>
          <p:cNvSpPr/>
          <p:nvPr/>
        </p:nvSpPr>
        <p:spPr>
          <a:xfrm>
            <a:off x="4279392" y="3236976"/>
            <a:ext cx="1792224" cy="953516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7" name="Shape 95"/>
          <p:cNvSpPr/>
          <p:nvPr/>
        </p:nvSpPr>
        <p:spPr>
          <a:xfrm>
            <a:off x="4279392" y="3236976"/>
            <a:ext cx="1792224" cy="201168"/>
          </a:xfrm>
          <a:prstGeom prst="roundRect">
            <a:avLst>
              <a:gd name="adj" fmla="val 27273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8" name="Shape 96"/>
          <p:cNvSpPr/>
          <p:nvPr/>
        </p:nvSpPr>
        <p:spPr>
          <a:xfrm>
            <a:off x="4279392" y="3337560"/>
            <a:ext cx="1792224" cy="1005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9" name="Text 97"/>
          <p:cNvSpPr/>
          <p:nvPr/>
        </p:nvSpPr>
        <p:spPr>
          <a:xfrm>
            <a:off x="4370832" y="323697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— GPT-3.5</a:t>
            </a:r>
            <a:endParaRPr lang="en-US" sz="780" dirty="0"/>
          </a:p>
        </p:txBody>
      </p:sp>
      <p:sp>
        <p:nvSpPr>
          <p:cNvPr id="100" name="Text 98"/>
          <p:cNvSpPr/>
          <p:nvPr/>
        </p:nvSpPr>
        <p:spPr>
          <a:xfrm>
            <a:off x="4370832" y="3474720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personalised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email body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Facts: all from PMS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tone only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hallucination on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impossible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can override</a:t>
            </a:r>
            <a:endParaRPr lang="en-US" sz="680" dirty="0"/>
          </a:p>
        </p:txBody>
      </p:sp>
      <p:sp>
        <p:nvSpPr>
          <p:cNvPr id="101" name="Shape 99"/>
          <p:cNvSpPr/>
          <p:nvPr/>
        </p:nvSpPr>
        <p:spPr>
          <a:xfrm>
            <a:off x="6089904" y="3685032"/>
            <a:ext cx="36576" cy="0"/>
          </a:xfrm>
          <a:prstGeom prst="line">
            <a:avLst/>
          </a:prstGeom>
          <a:noFill/>
          <a:ln w="15240">
            <a:solidFill>
              <a:srgbClr val="8896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2" name="Shape 100"/>
          <p:cNvSpPr/>
          <p:nvPr/>
        </p:nvSpPr>
        <p:spPr>
          <a:xfrm>
            <a:off x="6089904" y="3639312"/>
            <a:ext cx="36576" cy="91440"/>
          </a:xfrm>
          <a:prstGeom prst="roundRect">
            <a:avLst>
              <a:gd name="adj" fmla="val 25000"/>
            </a:avLst>
          </a:prstGeom>
          <a:solidFill>
            <a:srgbClr val="8896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3" name="Shape 101"/>
          <p:cNvSpPr/>
          <p:nvPr/>
        </p:nvSpPr>
        <p:spPr>
          <a:xfrm>
            <a:off x="6144768" y="3236976"/>
            <a:ext cx="1426464" cy="955548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4" name="Shape 102"/>
          <p:cNvSpPr/>
          <p:nvPr/>
        </p:nvSpPr>
        <p:spPr>
          <a:xfrm>
            <a:off x="6144768" y="3236976"/>
            <a:ext cx="1426464" cy="201168"/>
          </a:xfrm>
          <a:prstGeom prst="roundRect">
            <a:avLst>
              <a:gd name="adj" fmla="val 27273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5" name="Shape 103"/>
          <p:cNvSpPr/>
          <p:nvPr/>
        </p:nvSpPr>
        <p:spPr>
          <a:xfrm>
            <a:off x="6144768" y="3337560"/>
            <a:ext cx="1426464" cy="1005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6" name="Text 104"/>
          <p:cNvSpPr/>
          <p:nvPr/>
        </p:nvSpPr>
        <p:spPr>
          <a:xfrm>
            <a:off x="6236208" y="323697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SEND</a:t>
            </a:r>
            <a:endParaRPr lang="en-US" sz="780" dirty="0"/>
          </a:p>
        </p:txBody>
      </p:sp>
      <p:sp>
        <p:nvSpPr>
          <p:cNvPr id="107" name="Text 105"/>
          <p:cNvSpPr/>
          <p:nvPr/>
        </p:nvSpPr>
        <p:spPr>
          <a:xfrm>
            <a:off x="6236208" y="3474720"/>
            <a:ext cx="1243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to guest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seconds after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entry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TESTED LIVE: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→ inbox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 seconds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bookings</a:t>
            </a:r>
            <a:endParaRPr lang="en-US" sz="680" dirty="0"/>
          </a:p>
        </p:txBody>
      </p:sp>
      <p:sp>
        <p:nvSpPr>
          <p:cNvPr id="108" name="Shape 106"/>
          <p:cNvSpPr/>
          <p:nvPr/>
        </p:nvSpPr>
        <p:spPr>
          <a:xfrm>
            <a:off x="7589520" y="3685032"/>
            <a:ext cx="36576" cy="0"/>
          </a:xfrm>
          <a:prstGeom prst="line">
            <a:avLst/>
          </a:prstGeom>
          <a:noFill/>
          <a:ln w="15240">
            <a:solidFill>
              <a:srgbClr val="8896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9" name="Shape 107"/>
          <p:cNvSpPr/>
          <p:nvPr/>
        </p:nvSpPr>
        <p:spPr>
          <a:xfrm>
            <a:off x="7589520" y="3639312"/>
            <a:ext cx="36576" cy="91440"/>
          </a:xfrm>
          <a:prstGeom prst="roundRect">
            <a:avLst>
              <a:gd name="adj" fmla="val 25000"/>
            </a:avLst>
          </a:prstGeom>
          <a:solidFill>
            <a:srgbClr val="8896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0" name="Shape 108"/>
          <p:cNvSpPr/>
          <p:nvPr/>
        </p:nvSpPr>
        <p:spPr>
          <a:xfrm>
            <a:off x="7644384" y="3236976"/>
            <a:ext cx="1389888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1" name="Shape 109"/>
          <p:cNvSpPr/>
          <p:nvPr/>
        </p:nvSpPr>
        <p:spPr>
          <a:xfrm>
            <a:off x="7644384" y="3236976"/>
            <a:ext cx="1389888" cy="201168"/>
          </a:xfrm>
          <a:prstGeom prst="roundRect">
            <a:avLst>
              <a:gd name="adj" fmla="val 27273"/>
            </a:avLst>
          </a:prstGeom>
          <a:solidFill>
            <a:srgbClr val="3D4D5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2" name="Shape 110"/>
          <p:cNvSpPr/>
          <p:nvPr/>
        </p:nvSpPr>
        <p:spPr>
          <a:xfrm>
            <a:off x="7644384" y="3337560"/>
            <a:ext cx="1389888" cy="100584"/>
          </a:xfrm>
          <a:prstGeom prst="rect">
            <a:avLst/>
          </a:prstGeom>
          <a:solidFill>
            <a:srgbClr val="3D4D5C"/>
          </a:solidFill>
          <a:ln w="12700">
            <a:solidFill>
              <a:srgbClr val="3D4D5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3" name="Text 111"/>
          <p:cNvSpPr/>
          <p:nvPr/>
        </p:nvSpPr>
        <p:spPr>
          <a:xfrm>
            <a:off x="7735824" y="3236976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780" dirty="0"/>
          </a:p>
        </p:txBody>
      </p:sp>
      <p:sp>
        <p:nvSpPr>
          <p:cNvPr id="114" name="Text 112"/>
          <p:cNvSpPr/>
          <p:nvPr/>
        </p:nvSpPr>
        <p:spPr>
          <a:xfrm>
            <a:off x="7735824" y="3474720"/>
            <a:ext cx="1207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per</a:t>
            </a:r>
            <a:r>
              <a:rPr lang="en-US" sz="600" dirty="0"/>
              <a:t> </a:t>
            </a:r>
            <a:r>
              <a:rPr lang="en-US" sz="6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ID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subject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override</a:t>
            </a:r>
            <a:r>
              <a:rPr lang="en-US" sz="600" dirty="0"/>
              <a:t> </a:t>
            </a:r>
            <a:r>
              <a:rPr lang="en-US" sz="6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600" dirty="0"/>
          </a:p>
        </p:txBody>
      </p:sp>
      <p:sp>
        <p:nvSpPr>
          <p:cNvPr id="115" name="Shape 113"/>
          <p:cNvSpPr/>
          <p:nvPr/>
        </p:nvSpPr>
        <p:spPr>
          <a:xfrm>
            <a:off x="6858000" y="4133088"/>
            <a:ext cx="0" cy="73152"/>
          </a:xfrm>
          <a:prstGeom prst="line">
            <a:avLst/>
          </a:prstGeom>
          <a:noFill/>
          <a:ln w="15240">
            <a:solidFill>
              <a:srgbClr val="8896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6" name="Shape 114"/>
          <p:cNvSpPr/>
          <p:nvPr/>
        </p:nvSpPr>
        <p:spPr>
          <a:xfrm>
            <a:off x="6812280" y="4169664"/>
            <a:ext cx="91440" cy="36576"/>
          </a:xfrm>
          <a:prstGeom prst="roundRect">
            <a:avLst>
              <a:gd name="adj" fmla="val 25000"/>
            </a:avLst>
          </a:prstGeom>
          <a:solidFill>
            <a:srgbClr val="8896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7" name="Shape 115"/>
          <p:cNvSpPr/>
          <p:nvPr/>
        </p:nvSpPr>
        <p:spPr>
          <a:xfrm>
            <a:off x="1170432" y="4224528"/>
            <a:ext cx="6894576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8" name="Shape 116"/>
          <p:cNvSpPr/>
          <p:nvPr/>
        </p:nvSpPr>
        <p:spPr>
          <a:xfrm>
            <a:off x="1170432" y="4224528"/>
            <a:ext cx="6894576" cy="201168"/>
          </a:xfrm>
          <a:prstGeom prst="roundRect">
            <a:avLst>
              <a:gd name="adj" fmla="val 27273"/>
            </a:avLst>
          </a:prstGeom>
          <a:solidFill>
            <a:srgbClr val="1A7A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9" name="Shape 117"/>
          <p:cNvSpPr/>
          <p:nvPr/>
        </p:nvSpPr>
        <p:spPr>
          <a:xfrm>
            <a:off x="1170432" y="4325112"/>
            <a:ext cx="6894576" cy="10058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0" name="Text 118"/>
          <p:cNvSpPr/>
          <p:nvPr/>
        </p:nvSpPr>
        <p:spPr>
          <a:xfrm>
            <a:off x="1261872" y="4224528"/>
            <a:ext cx="6711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 — UC2 Cancellation &amp; No-Show Risk (connected to bookings_clean.csv)</a:t>
            </a:r>
            <a:endParaRPr lang="en-US" sz="780" dirty="0"/>
          </a:p>
        </p:txBody>
      </p:sp>
      <p:sp>
        <p:nvSpPr>
          <p:cNvPr id="121" name="Text 119"/>
          <p:cNvSpPr/>
          <p:nvPr/>
        </p:nvSpPr>
        <p:spPr>
          <a:xfrm>
            <a:off x="1261872" y="4462272"/>
            <a:ext cx="6711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by channel  ·  Lead time risk curve  ·  Monthly trend (flat 37%)  ·  Special requests signal  ·  City vs Resort  ·  Market segment risk</a:t>
            </a:r>
            <a:endParaRPr lang="en-US" sz="750" dirty="0"/>
          </a:p>
        </p:txBody>
      </p:sp>
      <p:sp>
        <p:nvSpPr>
          <p:cNvPr id="122" name="Shape 120"/>
          <p:cNvSpPr/>
          <p:nvPr/>
        </p:nvSpPr>
        <p:spPr>
          <a:xfrm>
            <a:off x="0" y="4709160"/>
            <a:ext cx="9144000" cy="22860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3" name="Text 121"/>
          <p:cNvSpPr/>
          <p:nvPr/>
        </p:nvSpPr>
        <p:spPr>
          <a:xfrm>
            <a:off x="274320" y="470916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override at every step  ·  </a:t>
            </a: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tool calls logged  ·  LLM personalises tone only — all facts from PMS  ·  GDPR review before go-live  ·  Validate Cleo PMS data quality in Phase 1</a:t>
            </a:r>
            <a:endParaRPr lang="en-US" sz="750" dirty="0"/>
          </a:p>
        </p:txBody>
      </p:sp>
      <p:sp>
        <p:nvSpPr>
          <p:cNvPr id="124" name="Shape 122"/>
          <p:cNvSpPr/>
          <p:nvPr/>
        </p:nvSpPr>
        <p:spPr>
          <a:xfrm>
            <a:off x="0" y="4937760"/>
            <a:ext cx="9144000" cy="164592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5" name="Text 123"/>
          <p:cNvSpPr/>
          <p:nvPr/>
        </p:nvSpPr>
        <p:spPr>
          <a:xfrm>
            <a:off x="274320" y="494690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CLEO CEO BRIEFING  ·  JUNE 2026  ·  DARIA BYSTROVA — IRONHACK PROJECT 5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&amp; EVALUATION — FROM RAW DATA TO AUDITABLE INSIGHTS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496519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CLEO CEO BRIEFING  ·  JUNE 2026  ·  DARIA BYSTROVA — IRONHACK PROJECT 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scores </a:t>
            </a:r>
            <a:r>
              <a:rPr lang="en-US" sz="18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</a:t>
            </a:r>
            <a:r>
              <a:rPr lang="en-US" sz="18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/5 across four business-quality dimensions — bias acknowledged, mitigation plan in place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1261872" cy="1234440"/>
          </a:xfrm>
          <a:prstGeom prst="roundRect">
            <a:avLst>
              <a:gd name="adj" fmla="val 5185"/>
            </a:avLst>
          </a:prstGeom>
          <a:solidFill>
            <a:srgbClr val="1B2B4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310896" y="160020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10896" y="2075688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119,388 rows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columns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2024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572768" y="2125980"/>
            <a:ext cx="155448" cy="0"/>
          </a:xfrm>
          <a:prstGeom prst="line">
            <a:avLst/>
          </a:prstGeom>
          <a:noFill/>
          <a:ln w="19050">
            <a:solidFill>
              <a:srgbClr val="8896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1737360" y="1508760"/>
            <a:ext cx="1261872" cy="1234440"/>
          </a:xfrm>
          <a:prstGeom prst="roundRect">
            <a:avLst>
              <a:gd name="adj" fmla="val 5185"/>
            </a:avLst>
          </a:prstGeom>
          <a:solidFill>
            <a:srgbClr val="1B2B4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1773936" y="160020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73936" y="2075688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deterministic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pandas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035808" y="2125980"/>
            <a:ext cx="155448" cy="0"/>
          </a:xfrm>
          <a:prstGeom prst="line">
            <a:avLst/>
          </a:prstGeom>
          <a:noFill/>
          <a:ln w="19050">
            <a:solidFill>
              <a:srgbClr val="8896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3200400" y="1508760"/>
            <a:ext cx="1261872" cy="1234440"/>
          </a:xfrm>
          <a:prstGeom prst="roundRect">
            <a:avLst>
              <a:gd name="adj" fmla="val 5185"/>
            </a:avLst>
          </a:prstGeom>
          <a:solidFill>
            <a:srgbClr val="1B2B4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3236976" y="160020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36976" y="2075688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output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498848" y="2125980"/>
            <a:ext cx="155448" cy="0"/>
          </a:xfrm>
          <a:prstGeom prst="line">
            <a:avLst/>
          </a:prstGeom>
          <a:noFill/>
          <a:ln w="19050">
            <a:solidFill>
              <a:srgbClr val="8896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4663440" y="1508760"/>
            <a:ext cx="1261872" cy="1234440"/>
          </a:xfrm>
          <a:prstGeom prst="roundRect">
            <a:avLst>
              <a:gd name="adj" fmla="val 5185"/>
            </a:avLst>
          </a:prstGeom>
          <a:solidFill>
            <a:srgbClr val="1B2B4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4700016" y="160020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00016" y="2075688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insights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Headline, evidence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source, action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961888" y="2125980"/>
            <a:ext cx="155448" cy="0"/>
          </a:xfrm>
          <a:prstGeom prst="line">
            <a:avLst/>
          </a:prstGeom>
          <a:noFill/>
          <a:ln w="19050">
            <a:solidFill>
              <a:srgbClr val="8896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6126480" y="1508760"/>
            <a:ext cx="1261872" cy="1234440"/>
          </a:xfrm>
          <a:prstGeom prst="roundRect">
            <a:avLst>
              <a:gd name="adj" fmla="val 5185"/>
            </a:avLst>
          </a:prstGeom>
          <a:solidFill>
            <a:srgbClr val="1B2B4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6163056" y="160020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63056" y="2075688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criteria (1–5)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424928" y="2125980"/>
            <a:ext cx="155448" cy="0"/>
          </a:xfrm>
          <a:prstGeom prst="line">
            <a:avLst/>
          </a:prstGeom>
          <a:noFill/>
          <a:ln w="19050">
            <a:solidFill>
              <a:srgbClr val="8896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Shape 25"/>
          <p:cNvSpPr/>
          <p:nvPr/>
        </p:nvSpPr>
        <p:spPr>
          <a:xfrm>
            <a:off x="7589520" y="1508760"/>
            <a:ext cx="1261872" cy="1234440"/>
          </a:xfrm>
          <a:prstGeom prst="roundRect">
            <a:avLst>
              <a:gd name="adj" fmla="val 5185"/>
            </a:avLst>
          </a:prstGeom>
          <a:solidFill>
            <a:srgbClr val="006B6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7626096" y="160020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/ 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626096" y="2075688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Per-dimension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+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20040" y="2880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RUBRIC (LLM-as-Judge)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3182112"/>
            <a:ext cx="5303520" cy="338328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457200" y="32278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600200" y="32278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useful to an aparthotel CEO? Real business problem?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29200" y="32278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5.0/5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3566160"/>
            <a:ext cx="5303520" cy="338328"/>
          </a:xfrm>
          <a:prstGeom prst="roundRect">
            <a:avLst>
              <a:gd name="adj" fmla="val 13514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457200" y="36118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600200" y="36118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numbers plausible? Does evidence support the claim?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029200" y="36118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4.6/5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3950208"/>
            <a:ext cx="5303520" cy="338328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0" name="Text 38"/>
          <p:cNvSpPr/>
          <p:nvPr/>
        </p:nvSpPr>
        <p:spPr>
          <a:xfrm>
            <a:off x="457200" y="39959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Actionability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600200" y="39959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Cleo do something specific? Is the action realistic?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029200" y="39959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4.8/5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20040" y="4334256"/>
            <a:ext cx="5303520" cy="338328"/>
          </a:xfrm>
          <a:prstGeom prst="roundRect">
            <a:avLst>
              <a:gd name="adj" fmla="val 13514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4" name="Text 42"/>
          <p:cNvSpPr/>
          <p:nvPr/>
        </p:nvSpPr>
        <p:spPr>
          <a:xfrm>
            <a:off x="457200" y="43799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600200" y="43799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business language? Non-technical exec understands?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029200" y="43799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4.8/5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852160" y="2880360"/>
            <a:ext cx="2971800" cy="202996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8" name="Text 46"/>
          <p:cNvSpPr/>
          <p:nvPr/>
        </p:nvSpPr>
        <p:spPr>
          <a:xfrm>
            <a:off x="5989320" y="29992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BIAS ACKNOWLEDGED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989320" y="32918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generating AND judging = self-evaluation inflation. Claude scored its own insights.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989320" y="384048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MITIGATION PLAN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989320" y="4114800"/>
            <a:ext cx="2697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Human spot-review 20–30% of insights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Cross-model: Claude judges GPT, GPT judges Claude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Score calibration — track drift, retrain judge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90E8-970E-F886-9AB0-FD4C7099F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7C8B2DE-B4CF-2EED-8460-5A2649AED9AF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02B20CC-32DC-6292-C9C3-AD36FFBC78D4}"/>
              </a:ext>
            </a:extLst>
          </p:cNvPr>
          <p:cNvSpPr/>
          <p:nvPr/>
        </p:nvSpPr>
        <p:spPr>
          <a:xfrm>
            <a:off x="365760" y="640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BUSINESS RECOMMENDATIONS</a:t>
            </a:r>
            <a:endParaRPr lang="en-US" sz="9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29A363A-13A8-7AEC-1830-8F13262B6034}"/>
              </a:ext>
            </a:extLst>
          </p:cNvPr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C60D225-78B5-C646-55ED-288E1EAE5430}"/>
              </a:ext>
            </a:extLst>
          </p:cNvPr>
          <p:cNvSpPr/>
          <p:nvPr/>
        </p:nvSpPr>
        <p:spPr>
          <a:xfrm>
            <a:off x="365760" y="496519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CLEO CEO BRIEFING  ·  JUNE 2026  ·  DARIA BYSTROVA — IRONHACK PROJECT 5</a:t>
            </a:r>
            <a:endParaRPr lang="en-US" sz="700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764C790C-A353-1F90-A6CD-B4AA165B2D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09" t="13044" r="670" b="5799"/>
          <a:stretch>
            <a:fillRect/>
          </a:stretch>
        </p:blipFill>
        <p:spPr>
          <a:xfrm>
            <a:off x="1054867" y="658368"/>
            <a:ext cx="6693802" cy="2837528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57FBC30F-48B3-5459-60C2-93D4171DB1B8}"/>
              </a:ext>
            </a:extLst>
          </p:cNvPr>
          <p:cNvSpPr txBox="1"/>
          <p:nvPr/>
        </p:nvSpPr>
        <p:spPr>
          <a:xfrm>
            <a:off x="217089" y="3513594"/>
            <a:ext cx="8705530" cy="14035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buNone/>
            </a:pPr>
            <a:r>
              <a:rPr lang="en-US" sz="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Cancellation by Channel — TA/TO 41% vs Direct 17%</a:t>
            </a:r>
            <a:r>
              <a:rPr lang="de-DE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Shift demand mix toward Direct. Tactical lever: make direct booking meaningfully cheaper or better (early check-in, free parking, flexible dates).</a:t>
            </a:r>
            <a:endParaRPr lang="de-DE" sz="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buNone/>
            </a:pPr>
            <a:r>
              <a:rPr lang="en-US" sz="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Lead Time Risk — 365d+ bookings cancel at 68%</a:t>
            </a:r>
            <a:r>
              <a:rPr lang="de-DE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Introduce a non-refundable deposit requirement for all bookings made more than 90 days in advance. </a:t>
            </a:r>
          </a:p>
          <a:p>
            <a:pPr>
              <a:lnSpc>
                <a:spcPct val="107000"/>
              </a:lnSpc>
              <a:buNone/>
            </a:pPr>
            <a:r>
              <a:rPr lang="en-US" sz="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City vs Resort — City Hotels cancel at 42% vs Resort 28%</a:t>
            </a:r>
            <a:r>
              <a:rPr lang="de-DE" sz="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Apply resort retention practices to the city portfolio</a:t>
            </a:r>
            <a:r>
              <a:rPr lang="en-US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pre-arrival </a:t>
            </a:r>
            <a:r>
              <a:rPr lang="en-US" sz="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personalised</a:t>
            </a:r>
            <a:r>
              <a:rPr lang="en-US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communication, local experience suggestions, early check-in incentives. The gap is not about location, it's about perceived commitment to the stay.</a:t>
            </a:r>
            <a:endParaRPr lang="de-DE" sz="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buNone/>
            </a:pPr>
            <a:r>
              <a:rPr lang="en-US" sz="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Monthly Cancellation Trend — flat 37% year-round</a:t>
            </a:r>
            <a:r>
              <a:rPr lang="de-DE" sz="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Seasonal pricing alone will not fix this. The flat line means the problem is not demand seasonality — it's booking </a:t>
            </a:r>
            <a:r>
              <a:rPr lang="en-US" sz="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behaviour</a:t>
            </a:r>
            <a:r>
              <a:rPr lang="en-US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policy. This rules out "discount in low season" as a fix. It points squarely </a:t>
            </a:r>
            <a:r>
              <a:rPr lang="en-US" sz="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 deposit policy and channel mix as the levers</a:t>
            </a:r>
            <a:r>
              <a:rPr lang="en-US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not pricing calendar.</a:t>
            </a:r>
            <a:endParaRPr lang="de-DE" sz="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buNone/>
            </a:pPr>
            <a:r>
              <a:rPr lang="en-US" sz="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 Special Requests Signal 0 requests = 48% cancel, 5 requests = 5% cancel</a:t>
            </a:r>
            <a:r>
              <a:rPr lang="de-DE" sz="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Send a pre-arrival preference survey to every booking within 24 hours of reservation.</a:t>
            </a:r>
            <a:endParaRPr lang="de-DE" sz="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buNone/>
            </a:pPr>
            <a:r>
              <a:rPr lang="en-US" sz="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6. Market Segment Risk — Online TA 37%, Offline TA/TO 34%, Direct 15%</a:t>
            </a:r>
            <a:r>
              <a:rPr lang="de-DE" sz="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Direct channel is your most reliable demand source by a wide margin — 15% cancel rate vs 37% for Online TA. The business case for investing in direct booking conversion (a better booking engine, a loyalty </a:t>
            </a:r>
            <a:r>
              <a:rPr lang="en-US" sz="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programme</a:t>
            </a:r>
            <a:r>
              <a:rPr lang="en-US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 direct rate advantage) is clear in this data. Every booking you convert from Online TA to Direct cuts cancellation risk by more than half.</a:t>
            </a:r>
            <a:endParaRPr lang="de-DE" sz="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4002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DE81C-7E18-258C-750D-4A422F5AA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F27348A-D478-66B7-957C-E857938E4074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B1E5DBF-20F2-7E5E-CE56-54C0BFD93A07}"/>
              </a:ext>
            </a:extLst>
          </p:cNvPr>
          <p:cNvSpPr/>
          <p:nvPr/>
        </p:nvSpPr>
        <p:spPr>
          <a:xfrm>
            <a:off x="365760" y="640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RETENTION EMAIL </a:t>
            </a:r>
            <a:endParaRPr lang="en-US" sz="9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68CC6F5-58BE-ED1B-34F3-6D74F4465B6A}"/>
              </a:ext>
            </a:extLst>
          </p:cNvPr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8FC32D2-EAF8-6151-B74C-1AFC5EA3D8F5}"/>
              </a:ext>
            </a:extLst>
          </p:cNvPr>
          <p:cNvSpPr/>
          <p:nvPr/>
        </p:nvSpPr>
        <p:spPr>
          <a:xfrm>
            <a:off x="365760" y="496519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CLEO CEO BRIEFING  ·  JUNE 2026  ·  DARIA BYSTROVA — IRONHACK PROJECT 5</a:t>
            </a:r>
            <a:endParaRPr lang="en-US" sz="70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7DE97EE2-5286-0C7A-D81B-11E573903FA4}"/>
              </a:ext>
            </a:extLst>
          </p:cNvPr>
          <p:cNvSpPr/>
          <p:nvPr/>
        </p:nvSpPr>
        <p:spPr>
          <a:xfrm>
            <a:off x="6182140" y="1758444"/>
            <a:ext cx="2596100" cy="815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/>
              <a:t>The workflow steps: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Receives a new booking.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Detects it as high-risk.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Sends booking details to OpenAI.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Generates a personalized retention email.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Sends the email via Gmail to reduce cancellation risk.</a:t>
            </a:r>
          </a:p>
        </p:txBody>
      </p:sp>
      <p:sp>
        <p:nvSpPr>
          <p:cNvPr id="54" name="Text 49">
            <a:extLst>
              <a:ext uri="{FF2B5EF4-FFF2-40B4-BE49-F238E27FC236}">
                <a16:creationId xmlns:a16="http://schemas.microsoft.com/office/drawing/2014/main" id="{EA0831B7-71E1-EE5A-99A8-99523C4D16A5}"/>
              </a:ext>
            </a:extLst>
          </p:cNvPr>
          <p:cNvSpPr/>
          <p:nvPr/>
        </p:nvSpPr>
        <p:spPr>
          <a:xfrm>
            <a:off x="2657890" y="929645"/>
            <a:ext cx="1071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SzPct val="100000"/>
            </a:pPr>
            <a:r>
              <a:rPr lang="en-US" sz="850" b="1" dirty="0"/>
              <a:t>N8N Workflow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2A7B67B5-E3C3-99DB-4460-17BAFBAB0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64" y="1208537"/>
            <a:ext cx="5634135" cy="210749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7" name="Speech Bubble: Rectangle 56">
            <a:extLst>
              <a:ext uri="{FF2B5EF4-FFF2-40B4-BE49-F238E27FC236}">
                <a16:creationId xmlns:a16="http://schemas.microsoft.com/office/drawing/2014/main" id="{326053F6-A760-8822-7560-9425D688053C}"/>
              </a:ext>
            </a:extLst>
          </p:cNvPr>
          <p:cNvSpPr/>
          <p:nvPr/>
        </p:nvSpPr>
        <p:spPr>
          <a:xfrm>
            <a:off x="3401060" y="3486575"/>
            <a:ext cx="5562160" cy="1244176"/>
          </a:xfrm>
          <a:prstGeom prst="wedgeRectCallout">
            <a:avLst>
              <a:gd name="adj1" fmla="val -28183"/>
              <a:gd name="adj2" fmla="val -162080"/>
            </a:avLst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6E15AD18-0CF4-2673-3CDC-C1962CD0286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4" b="11777"/>
          <a:stretch>
            <a:fillRect/>
          </a:stretch>
        </p:blipFill>
        <p:spPr>
          <a:xfrm>
            <a:off x="3493550" y="3511815"/>
            <a:ext cx="5377180" cy="1193696"/>
          </a:xfrm>
          <a:prstGeom prst="rect">
            <a:avLst/>
          </a:prstGeom>
        </p:spPr>
      </p:pic>
      <p:sp>
        <p:nvSpPr>
          <p:cNvPr id="61" name="Speech Bubble: Rectangle 60">
            <a:extLst>
              <a:ext uri="{FF2B5EF4-FFF2-40B4-BE49-F238E27FC236}">
                <a16:creationId xmlns:a16="http://schemas.microsoft.com/office/drawing/2014/main" id="{4D53A65F-E355-76D5-17E0-59A200E22DB6}"/>
              </a:ext>
            </a:extLst>
          </p:cNvPr>
          <p:cNvSpPr/>
          <p:nvPr/>
        </p:nvSpPr>
        <p:spPr>
          <a:xfrm>
            <a:off x="365760" y="3486575"/>
            <a:ext cx="2891790" cy="1244176"/>
          </a:xfrm>
          <a:prstGeom prst="wedgeRectCallout">
            <a:avLst>
              <a:gd name="adj1" fmla="val 25176"/>
              <a:gd name="adj2" fmla="val -131458"/>
            </a:avLst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0" name="Text 49">
            <a:extLst>
              <a:ext uri="{FF2B5EF4-FFF2-40B4-BE49-F238E27FC236}">
                <a16:creationId xmlns:a16="http://schemas.microsoft.com/office/drawing/2014/main" id="{1C58CCD5-C96C-B25F-C186-B715ADC1DCA8}"/>
              </a:ext>
            </a:extLst>
          </p:cNvPr>
          <p:cNvSpPr/>
          <p:nvPr/>
        </p:nvSpPr>
        <p:spPr>
          <a:xfrm>
            <a:off x="473490" y="3620390"/>
            <a:ext cx="2596100" cy="815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/>
              <a:t>The filter marks a booking as high-risk if </a:t>
            </a:r>
            <a:r>
              <a:rPr lang="en-US" sz="900" b="1" u="sng" dirty="0">
                <a:solidFill>
                  <a:srgbClr val="00B0F0"/>
                </a:solidFill>
              </a:rPr>
              <a:t>either</a:t>
            </a:r>
            <a:r>
              <a:rPr lang="en-US" sz="900" dirty="0"/>
              <a:t> of these conditions is true:</a:t>
            </a:r>
          </a:p>
          <a:p>
            <a:r>
              <a:rPr lang="en-US" sz="900" b="1" dirty="0"/>
              <a:t>A) Lead time is over 90 days</a:t>
            </a:r>
          </a:p>
          <a:p>
            <a:r>
              <a:rPr lang="en-US" sz="900" b="1" dirty="0"/>
              <a:t>B) Booking channel is Booking.com</a:t>
            </a:r>
          </a:p>
          <a:p>
            <a:r>
              <a:rPr lang="en-US" sz="900" b="1" dirty="0"/>
              <a:t>C) No prepayment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93889BEC-48A8-FD7A-E7B3-25C7BCD596EC}"/>
              </a:ext>
            </a:extLst>
          </p:cNvPr>
          <p:cNvSpPr/>
          <p:nvPr/>
        </p:nvSpPr>
        <p:spPr>
          <a:xfrm>
            <a:off x="2260600" y="1720850"/>
            <a:ext cx="209550" cy="20955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b="1" dirty="0"/>
              <a:t>1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76CB1876-1143-A53A-EB16-5989FA02C7B4}"/>
              </a:ext>
            </a:extLst>
          </p:cNvPr>
          <p:cNvSpPr/>
          <p:nvPr/>
        </p:nvSpPr>
        <p:spPr>
          <a:xfrm>
            <a:off x="423764" y="3515615"/>
            <a:ext cx="209550" cy="20955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b="1" dirty="0"/>
              <a:t>1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518B22DE-F8EC-2E11-41AA-F8DBF9056925}"/>
              </a:ext>
            </a:extLst>
          </p:cNvPr>
          <p:cNvSpPr/>
          <p:nvPr/>
        </p:nvSpPr>
        <p:spPr>
          <a:xfrm>
            <a:off x="4467225" y="1153425"/>
            <a:ext cx="209550" cy="20955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b="1" dirty="0"/>
              <a:t>2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AA9435D6-C338-D99B-72A4-66506E93081C}"/>
              </a:ext>
            </a:extLst>
          </p:cNvPr>
          <p:cNvSpPr/>
          <p:nvPr/>
        </p:nvSpPr>
        <p:spPr>
          <a:xfrm>
            <a:off x="3490375" y="3511815"/>
            <a:ext cx="209550" cy="20955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00298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 — PHASES, STEPS, OWNERS, GO/NO-GO GATES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63677"/>
            <a:ext cx="9144000" cy="182880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20040" y="498699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CLEO CEO BRIEFING  ·  JUNE 2026  ·  DARIA BYSTROVA — IRONHACK PROJECT 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phases, 14 weeks, each independently valuable — every phase gated by a Go/No-Go before the next budget commitment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8503920" cy="73152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1239012" y="1408176"/>
            <a:ext cx="219456" cy="219456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320040" y="1627632"/>
            <a:ext cx="2057400" cy="1979677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320040" y="1627632"/>
            <a:ext cx="2057400" cy="749808"/>
          </a:xfrm>
          <a:prstGeom prst="roundRect">
            <a:avLst>
              <a:gd name="adj" fmla="val 9756"/>
            </a:avLst>
          </a:prstGeom>
          <a:solidFill>
            <a:srgbClr val="1A527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320040" y="2029968"/>
            <a:ext cx="205740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411480" y="167335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Wks 1–4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1883664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BI dashboard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423160"/>
            <a:ext cx="1874520" cy="256032"/>
          </a:xfrm>
          <a:prstGeom prst="roundRect">
            <a:avLst>
              <a:gd name="adj" fmla="val 17857"/>
            </a:avLst>
          </a:prstGeom>
          <a:solidFill>
            <a:srgbClr val="E8EC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411480" y="24231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€18–24K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2743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PMS data audit — validate quality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3017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Connect pipeline → Tableau dashboard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Baseline cancellation metrics visible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56616" y="3900375"/>
            <a:ext cx="1874520" cy="274320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374904" y="3909519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Go/No-Go: data quality sufficient?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56616" y="4229559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Single source of truth.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387852" y="1408176"/>
            <a:ext cx="219456" cy="219456"/>
          </a:xfrm>
          <a:prstGeom prst="ellipse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2468880" y="1627632"/>
            <a:ext cx="2057400" cy="1979677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2468880" y="1627632"/>
            <a:ext cx="2057400" cy="749808"/>
          </a:xfrm>
          <a:prstGeom prst="roundRect">
            <a:avLst>
              <a:gd name="adj" fmla="val 9756"/>
            </a:avLst>
          </a:prstGeom>
          <a:solidFill>
            <a:srgbClr val="006B6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2468880" y="2029968"/>
            <a:ext cx="2057400" cy="347472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2560320" y="167335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Wks 5–8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60320" y="1883664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pilot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60320" y="2423160"/>
            <a:ext cx="1874520" cy="256032"/>
          </a:xfrm>
          <a:prstGeom prst="roundRect">
            <a:avLst>
              <a:gd name="adj" fmla="val 17857"/>
            </a:avLst>
          </a:prstGeom>
          <a:solidFill>
            <a:srgbClr val="E8EC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2560320" y="24231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€35–45K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606040" y="2743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Deploy n8n retention workflow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606040" y="3017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2 pilot properties — shadow mode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606040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Measure cancel rate before vs after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542032" y="3892153"/>
            <a:ext cx="1874520" cy="274320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2560320" y="3901297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Go/No-Go: ≥3pp reduction at positive ROI?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542032" y="4221337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Proof AI reduces cancellations.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536692" y="1408176"/>
            <a:ext cx="219456" cy="219456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Shape 35"/>
          <p:cNvSpPr/>
          <p:nvPr/>
        </p:nvSpPr>
        <p:spPr>
          <a:xfrm>
            <a:off x="4617720" y="1627632"/>
            <a:ext cx="2057400" cy="1979677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8" name="Shape 36"/>
          <p:cNvSpPr/>
          <p:nvPr/>
        </p:nvSpPr>
        <p:spPr>
          <a:xfrm>
            <a:off x="4617720" y="1627632"/>
            <a:ext cx="2057400" cy="749808"/>
          </a:xfrm>
          <a:prstGeom prst="roundRect">
            <a:avLst>
              <a:gd name="adj" fmla="val 9756"/>
            </a:avLst>
          </a:prstGeom>
          <a:solidFill>
            <a:srgbClr val="1A7A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9" name="Shape 37"/>
          <p:cNvSpPr/>
          <p:nvPr/>
        </p:nvSpPr>
        <p:spPr>
          <a:xfrm>
            <a:off x="4617720" y="2029968"/>
            <a:ext cx="205740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Text 38"/>
          <p:cNvSpPr/>
          <p:nvPr/>
        </p:nvSpPr>
        <p:spPr>
          <a:xfrm>
            <a:off x="4709160" y="167335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Wks 9–11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709160" y="1883664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09160" y="2423160"/>
            <a:ext cx="1874520" cy="256032"/>
          </a:xfrm>
          <a:prstGeom prst="roundRect">
            <a:avLst>
              <a:gd name="adj" fmla="val 17857"/>
            </a:avLst>
          </a:prstGeom>
          <a:solidFill>
            <a:srgbClr val="E8EC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3" name="Text 41"/>
          <p:cNvSpPr/>
          <p:nvPr/>
        </p:nvSpPr>
        <p:spPr>
          <a:xfrm>
            <a:off x="4709160" y="24231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€42–58K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754880" y="2743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Event calendar + occupancy triggers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754880" y="3017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Advisory mode — human approves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754880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Legal review of OTA rate contracts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727448" y="3899156"/>
            <a:ext cx="1874520" cy="274320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8" name="Text 46"/>
          <p:cNvSpPr/>
          <p:nvPr/>
        </p:nvSpPr>
        <p:spPr>
          <a:xfrm>
            <a:off x="4745736" y="3908300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Go/No-Go: revenue managers trust it?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727448" y="42283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ADR uplift captured on peak nights.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685532" y="1408176"/>
            <a:ext cx="219456" cy="219456"/>
          </a:xfrm>
          <a:prstGeom prst="ellipse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1" name="Shape 49"/>
          <p:cNvSpPr/>
          <p:nvPr/>
        </p:nvSpPr>
        <p:spPr>
          <a:xfrm>
            <a:off x="6766560" y="1627632"/>
            <a:ext cx="2057400" cy="1979677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2" name="Shape 50"/>
          <p:cNvSpPr/>
          <p:nvPr/>
        </p:nvSpPr>
        <p:spPr>
          <a:xfrm>
            <a:off x="6766560" y="1627632"/>
            <a:ext cx="2057400" cy="749808"/>
          </a:xfrm>
          <a:prstGeom prst="roundRect">
            <a:avLst>
              <a:gd name="adj" fmla="val 9756"/>
            </a:avLst>
          </a:prstGeom>
          <a:solidFill>
            <a:srgbClr val="1B2B4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3" name="Shape 51"/>
          <p:cNvSpPr/>
          <p:nvPr/>
        </p:nvSpPr>
        <p:spPr>
          <a:xfrm>
            <a:off x="6766560" y="2029968"/>
            <a:ext cx="2057400" cy="347472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4" name="Text 52"/>
          <p:cNvSpPr/>
          <p:nvPr/>
        </p:nvSpPr>
        <p:spPr>
          <a:xfrm>
            <a:off x="6858000" y="167335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·  Wks 12–14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858000" y="1883664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+ automate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comms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858000" y="2423160"/>
            <a:ext cx="1874520" cy="256032"/>
          </a:xfrm>
          <a:prstGeom prst="roundRect">
            <a:avLst>
              <a:gd name="adj" fmla="val 17857"/>
            </a:avLst>
          </a:prstGeom>
          <a:solidFill>
            <a:srgbClr val="E8EC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7" name="Text 55"/>
          <p:cNvSpPr/>
          <p:nvPr/>
        </p:nvSpPr>
        <p:spPr>
          <a:xfrm>
            <a:off x="6858000" y="24231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€28–36K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903720" y="2743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Roll out to all 12 properties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903720" y="3017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Pre-arrival upsell automation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903720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Post-stay loyalty re-engagement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912865" y="3899156"/>
            <a:ext cx="1874520" cy="274320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2" name="Text 60"/>
          <p:cNvSpPr/>
          <p:nvPr/>
        </p:nvSpPr>
        <p:spPr>
          <a:xfrm>
            <a:off x="6931153" y="3908300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Go Live — monitoring cadence set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912865" y="42283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chain on AI. 80% less manual.</a:t>
            </a:r>
            <a:endParaRPr lang="en-US" sz="800" dirty="0"/>
          </a:p>
        </p:txBody>
      </p:sp>
      <p:sp>
        <p:nvSpPr>
          <p:cNvPr id="64" name="Rectangle 63"/>
          <p:cNvSpPr/>
          <p:nvPr/>
        </p:nvSpPr>
        <p:spPr>
          <a:xfrm>
            <a:off x="365760" y="3895344"/>
            <a:ext cx="841248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365760" y="3666744"/>
            <a:ext cx="8412480" cy="201168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65760" y="3675691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 dirty="0">
                <a:solidFill>
                  <a:srgbClr val="E07B2A"/>
                </a:solidFill>
              </a:rPr>
              <a:t>HOW TIME ESTIMATES ARE DERIVED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10896" y="3900375"/>
            <a:ext cx="2011680" cy="21945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65760" y="3918663"/>
            <a:ext cx="1901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D6E6E"/>
                </a:solidFill>
              </a:rPr>
              <a:t>Phase 1 — 4 weeks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10896" y="4138119"/>
            <a:ext cx="2011680" cy="78898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65760" y="4165551"/>
            <a:ext cx="1664208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 dirty="0">
                <a:solidFill>
                  <a:srgbClr val="334155"/>
                </a:solidFill>
              </a:rPr>
              <a:t>PMS audit: vendor SLA 5 days. Pipeline build: 1 analyst, ~3 days/use case (benchmarked). Tableau 6 charts: 3 days. 20% buffer. Source: comparable BI projects, hospitality data teams.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468880" y="3892153"/>
            <a:ext cx="2011680" cy="21945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523744" y="3910441"/>
            <a:ext cx="1901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D6E6E"/>
                </a:solidFill>
              </a:rPr>
              <a:t>Phase 2 — 4 weeks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468880" y="4129898"/>
            <a:ext cx="2011680" cy="78898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523744" y="4157329"/>
            <a:ext cx="1901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 dirty="0">
                <a:solidFill>
                  <a:srgbClr val="334155"/>
                </a:solidFill>
              </a:rPr>
              <a:t>n8n workflow + LLM prompt engineering: 3 days (tested PoC). Shadow mode: minimum 2-week window for statistical significance (n≥200 bookings per property needed to detect 3pp delta).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626864" y="3899156"/>
            <a:ext cx="2011680" cy="21945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681728" y="3917444"/>
            <a:ext cx="1901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D6E6E"/>
                </a:solidFill>
              </a:rPr>
              <a:t>Phase 3 — 3 weeks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626864" y="4136900"/>
            <a:ext cx="2011680" cy="78898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681728" y="4164332"/>
            <a:ext cx="1901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334155"/>
                </a:solidFill>
              </a:rPr>
              <a:t>Rules engine (event calendar + occupancy triggers): 5 days benchmarked. OTA legal review: standard 5 business day turnaround. Advisory mode only — no auto-publish until manager acceptance &gt;80%.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784848" y="3899156"/>
            <a:ext cx="2011680" cy="21945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839712" y="3917444"/>
            <a:ext cx="1901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D6E6E"/>
                </a:solidFill>
              </a:rPr>
              <a:t>Phase 4 — 3 weeks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784848" y="4136900"/>
            <a:ext cx="2011680" cy="78898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848857" y="4151158"/>
            <a:ext cx="1901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 dirty="0">
                <a:solidFill>
                  <a:srgbClr val="334155"/>
                </a:solidFill>
              </a:rPr>
              <a:t>PMS webhook config: ~1 day per city, 2 cities parallel = 2 days. Training sessions: 1hr per city × 12 = 1.5 days. Monitoring setup + Google Sheets audit log: 0.5 day. Total: 1 FTE analyst.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ROI &amp; RISKS — INVESTMENT CASE FOR CLEO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496519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CLEO CEO BRIEFING  ·  JUNE 2026  ·  DARIA BYSTROVA — IRONHACK PROJECT 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€142–187K total investment, &lt;6-month payback, 120–180% IRR — every risk has a named mitigation built into the phase gates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1481328"/>
            <a:ext cx="2029968" cy="1051560"/>
          </a:xfrm>
          <a:prstGeom prst="roundRect">
            <a:avLst>
              <a:gd name="adj" fmla="val 6957"/>
            </a:avLst>
          </a:prstGeom>
          <a:solidFill>
            <a:srgbClr val="1B2B4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393192" y="1591056"/>
            <a:ext cx="1883664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€142–187K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93192" y="2028139"/>
            <a:ext cx="1883664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build cost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weeks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96312" y="1481328"/>
            <a:ext cx="2029968" cy="1051560"/>
          </a:xfrm>
          <a:prstGeom prst="roundRect">
            <a:avLst>
              <a:gd name="adj" fmla="val 6957"/>
            </a:avLst>
          </a:prstGeom>
          <a:solidFill>
            <a:srgbClr val="006B6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2569464" y="1591056"/>
            <a:ext cx="1883664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&lt;6 months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69464" y="2028139"/>
            <a:ext cx="1883664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(conservative)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72584" y="1481328"/>
            <a:ext cx="2029968" cy="1051560"/>
          </a:xfrm>
          <a:prstGeom prst="roundRect">
            <a:avLst>
              <a:gd name="adj" fmla="val 6957"/>
            </a:avLst>
          </a:prstGeom>
          <a:solidFill>
            <a:srgbClr val="1A7A4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745736" y="1591056"/>
            <a:ext cx="1883664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€495K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45736" y="2028139"/>
            <a:ext cx="1883664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benefit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(conservative)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48856" y="1481328"/>
            <a:ext cx="2029968" cy="1051560"/>
          </a:xfrm>
          <a:prstGeom prst="roundRect">
            <a:avLst>
              <a:gd name="adj" fmla="val 6957"/>
            </a:avLst>
          </a:prstGeom>
          <a:solidFill>
            <a:srgbClr val="1A527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6922008" y="1591056"/>
            <a:ext cx="1883664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120–180%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22008" y="2028139"/>
            <a:ext cx="1883664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IRR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-848227" y="511423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-848227" y="5388558"/>
            <a:ext cx="2834640" cy="27432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-793363" y="538855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986413" y="5388558"/>
            <a:ext cx="594360" cy="27432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2041277" y="538855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80773" y="5388558"/>
            <a:ext cx="685800" cy="27432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2635637" y="538855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66573" y="5388558"/>
            <a:ext cx="2610853" cy="274319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3175133" y="5388557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-848227" y="5681165"/>
            <a:ext cx="6725653" cy="32326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-765931" y="5726886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data quality poor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050421" y="5736030"/>
            <a:ext cx="219456" cy="21945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2050421" y="573603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580773" y="572688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184277" y="570267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audit in Week 1 before any budget commit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-848227" y="6019494"/>
            <a:ext cx="6725653" cy="323262"/>
          </a:xfrm>
          <a:prstGeom prst="rect">
            <a:avLst/>
          </a:prstGeom>
          <a:solidFill>
            <a:srgbClr val="F4F6F9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>
            <a:off x="-765931" y="6065214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managers resist AI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050421" y="6074358"/>
            <a:ext cx="219456" cy="219456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2050421" y="607435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580773" y="606521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184277" y="604100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override on every action — shadow mode first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-848227" y="6357822"/>
            <a:ext cx="6725653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39"/>
          <p:cNvSpPr/>
          <p:nvPr/>
        </p:nvSpPr>
        <p:spPr>
          <a:xfrm>
            <a:off x="-765931" y="640354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contracts restrict pricing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050421" y="6412686"/>
            <a:ext cx="219456" cy="219456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3" name="Text 41"/>
          <p:cNvSpPr/>
          <p:nvPr/>
        </p:nvSpPr>
        <p:spPr>
          <a:xfrm>
            <a:off x="2050421" y="641268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580773" y="640354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184277" y="637933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review in Phase 3 before go-live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-848227" y="6696149"/>
            <a:ext cx="6725653" cy="378127"/>
          </a:xfrm>
          <a:prstGeom prst="rect">
            <a:avLst/>
          </a:prstGeom>
          <a:solidFill>
            <a:srgbClr val="F4F6F9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7" name="Text 45"/>
          <p:cNvSpPr/>
          <p:nvPr/>
        </p:nvSpPr>
        <p:spPr>
          <a:xfrm>
            <a:off x="-765931" y="674187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compliance gap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050421" y="6751014"/>
            <a:ext cx="219456" cy="219456"/>
          </a:xfrm>
          <a:prstGeom prst="ellipse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9" name="Text 47"/>
          <p:cNvSpPr/>
          <p:nvPr/>
        </p:nvSpPr>
        <p:spPr>
          <a:xfrm>
            <a:off x="2050421" y="675101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580773" y="674187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184277" y="67176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review before Week 6 email send goes live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-848227" y="7034478"/>
            <a:ext cx="6725653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3" name="Text 51"/>
          <p:cNvSpPr/>
          <p:nvPr/>
        </p:nvSpPr>
        <p:spPr>
          <a:xfrm>
            <a:off x="-765931" y="708019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wrong info in guest email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050421" y="7089342"/>
            <a:ext cx="219456" cy="219456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5" name="Text 53"/>
          <p:cNvSpPr/>
          <p:nvPr/>
        </p:nvSpPr>
        <p:spPr>
          <a:xfrm>
            <a:off x="2050421" y="708934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580773" y="708019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184277" y="705598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factual fields from PMS — LLM personalisation only</a:t>
            </a:r>
            <a:endParaRPr lang="en-US" sz="850" dirty="0"/>
          </a:p>
        </p:txBody>
      </p:sp>
      <p:sp>
        <p:nvSpPr>
          <p:cNvPr id="58" name="Rectangle 57"/>
          <p:cNvSpPr/>
          <p:nvPr/>
        </p:nvSpPr>
        <p:spPr>
          <a:xfrm>
            <a:off x="6355080" y="5398183"/>
            <a:ext cx="4206240" cy="201168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355080" y="5416471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07B2A"/>
                </a:solidFill>
              </a:rPr>
              <a:t>HOW MONETARY ESTIMATES ARE DERIVED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55080" y="5626783"/>
            <a:ext cx="4206240" cy="20299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373368" y="5663359"/>
            <a:ext cx="40599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D6E6E"/>
                </a:solidFill>
              </a:rPr>
              <a:t>BUILD COST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73368" y="5816978"/>
            <a:ext cx="40599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334155"/>
                </a:solidFill>
              </a:rPr>
              <a:t>Analyst: €700/day avg × 40 days = €28K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73368" y="5970597"/>
            <a:ext cx="40599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334155"/>
                </a:solidFill>
              </a:rPr>
              <a:t>n8n self-hosted: €0  |  LLM API setup: ~€200  |  Tableau: €840/yr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73368" y="6124216"/>
            <a:ext cx="40599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334155"/>
                </a:solidFill>
              </a:rPr>
              <a:t>PMS integration (IT): 2 days × €800 = €1.6K  |  GDPR/legal: €2–5K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73368" y="6277835"/>
            <a:ext cx="40599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 dirty="0">
                <a:solidFill>
                  <a:srgbClr val="334155"/>
                </a:solidFill>
              </a:rPr>
              <a:t>Contingency 15%: +€4–7K  →  Total: €35–42K Phase 1+2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73368" y="6585074"/>
            <a:ext cx="40599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dirty="0">
                <a:solidFill>
                  <a:srgbClr val="0D6E6E"/>
                </a:solidFill>
              </a:rPr>
              <a:t>ROI CALCULATION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73368" y="6738693"/>
            <a:ext cx="40599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334155"/>
                </a:solidFill>
              </a:rPr>
              <a:t>Dynamic pricing: 5% ADR lift × €5M revenue = €250K/yr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73368" y="6892312"/>
            <a:ext cx="40599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334155"/>
                </a:solidFill>
              </a:rPr>
              <a:t>Cancellation recovery: 10% × 1,500/wk × €140 ADR = €78K/yr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73368" y="7045931"/>
            <a:ext cx="40599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334155"/>
                </a:solidFill>
              </a:rPr>
              <a:t>Guest comms: 2 FTE redeployed × €35K fully loaded = €70K/yr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73368" y="7199551"/>
            <a:ext cx="40599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334155"/>
                </a:solidFill>
              </a:rPr>
              <a:t>Total Year 1: €398–495K  |  Payback: €187K ÷ €41K/mo ≈ 4.6 mo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73368" y="7353170"/>
            <a:ext cx="40599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 dirty="0">
                <a:solidFill>
                  <a:srgbClr val="334155"/>
                </a:solidFill>
              </a:rPr>
              <a:t>IRR 120–180%: NPV at 10% discount over 12 </a:t>
            </a:r>
            <a:r>
              <a:rPr sz="700" b="0" i="0" dirty="0" err="1">
                <a:solidFill>
                  <a:srgbClr val="334155"/>
                </a:solidFill>
              </a:rPr>
              <a:t>mo</a:t>
            </a:r>
            <a:r>
              <a:rPr sz="700" b="0" i="0" dirty="0">
                <a:solidFill>
                  <a:srgbClr val="334155"/>
                </a:solidFill>
              </a:rPr>
              <a:t> — see cost_analysis.md</a:t>
            </a: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B3009CA5-387C-9E37-E40F-D3347CFAF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4072" y="2752845"/>
            <a:ext cx="3870919" cy="2119994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7AD03FC8-7645-3B62-6154-D800B890E1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738628"/>
            <a:ext cx="4627346" cy="161553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66928"/>
            <a:ext cx="8412480" cy="960120"/>
          </a:xfrm>
          <a:prstGeom prst="roundRect">
            <a:avLst>
              <a:gd name="adj" fmla="val 7619"/>
            </a:avLst>
          </a:prstGeom>
          <a:solidFill>
            <a:srgbClr val="006B6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pilot — not invest fully, not wait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weeks  ·  2 properties  ·  €5–10K  ·  Measurable Go/No-Go at Week 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4069080" cy="1417320"/>
          </a:xfrm>
          <a:prstGeom prst="roundRect">
            <a:avLst>
              <a:gd name="adj" fmla="val 5161"/>
            </a:avLst>
          </a:prstGeom>
          <a:solidFill>
            <a:srgbClr val="24355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INVEST FULLY NOW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08483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PMS data quality needs validation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GDPR review required before email sends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2578608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OTA contracts need legal check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2825496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City managers need to trust AI first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17720" y="1691640"/>
            <a:ext cx="4069080" cy="1417320"/>
          </a:xfrm>
          <a:prstGeom prst="roundRect">
            <a:avLst>
              <a:gd name="adj" fmla="val 5161"/>
            </a:avLst>
          </a:prstGeom>
          <a:solidFill>
            <a:srgbClr val="24355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754880" y="178308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WAIT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0" y="208483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Numa, Limehome, BobW not waiting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0" y="233172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71% of operators already using AI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0" y="2578608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OTA commission drains 15–25% every week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0" y="2825496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Window to lead is now — not next year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18688"/>
            <a:ext cx="8412480" cy="310896"/>
          </a:xfrm>
          <a:prstGeom prst="roundRect">
            <a:avLst>
              <a:gd name="adj" fmla="val 14706"/>
            </a:avLst>
          </a:prstGeom>
          <a:solidFill>
            <a:srgbClr val="24355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502920" y="323697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Groups cancel at 61.1% — non-refundable deposits protect revenue from day one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566160"/>
            <a:ext cx="8412480" cy="310896"/>
          </a:xfrm>
          <a:prstGeom prst="roundRect">
            <a:avLst>
              <a:gd name="adj" fmla="val 14706"/>
            </a:avLst>
          </a:prstGeom>
          <a:solidFill>
            <a:srgbClr val="24355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502920" y="35844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ADR gap €5 despite 20.9% demand swing — rules engine captures €4–8M annually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913632"/>
            <a:ext cx="8412480" cy="310896"/>
          </a:xfrm>
          <a:prstGeom prst="roundRect">
            <a:avLst>
              <a:gd name="adj" fmla="val 14706"/>
            </a:avLst>
          </a:prstGeom>
          <a:solidFill>
            <a:srgbClr val="24355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502920" y="39319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n8n workflow tested — real AI email delivered in 2 seconds on real bookings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4261104"/>
            <a:ext cx="8412480" cy="310896"/>
          </a:xfrm>
          <a:prstGeom prst="roundRect">
            <a:avLst>
              <a:gd name="adj" fmla="val 14706"/>
            </a:avLst>
          </a:prstGeom>
          <a:solidFill>
            <a:srgbClr val="24355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502920" y="42793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 tool call logged, every number cited, every limitation disclosed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6177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·  INSIGHT  ·  BETTER DECISIONS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github.com/dbystrova26/project5_analytics_visualization_and_ai_insights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3442</Words>
  <Application>Microsoft Office PowerPoint</Application>
  <PresentationFormat>On-screen Show (16:9)</PresentationFormat>
  <Paragraphs>455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Investment Case — Cleo</dc:title>
  <dc:subject>PptxGenJS Presentation</dc:subject>
  <dc:creator>PptxGenJS</dc:creator>
  <cp:lastModifiedBy>Daria Bystrova</cp:lastModifiedBy>
  <cp:revision>21</cp:revision>
  <dcterms:created xsi:type="dcterms:W3CDTF">2026-06-11T09:23:54Z</dcterms:created>
  <dcterms:modified xsi:type="dcterms:W3CDTF">2026-06-11T14:30:21Z</dcterms:modified>
</cp:coreProperties>
</file>